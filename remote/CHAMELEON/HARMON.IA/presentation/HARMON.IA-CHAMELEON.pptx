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id" ContentType="audio/mid"/>
  <Default Extension="mp3" ContentType="audio/mpeg"/>
  <Default Extension="png" ContentType="image/png"/>
  <Default Extension="rels" ContentType="application/vnd.openxmlformats-package.relationships+xml"/>
  <Default Extension="tiff" ContentType="image/tiff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5" r:id="rId3"/>
    <p:sldMasterId id="2147483667" r:id="rId4"/>
  </p:sldMasterIdLst>
  <p:sldIdLst>
    <p:sldId id="257" r:id="rId5"/>
    <p:sldId id="482" r:id="rId6"/>
    <p:sldId id="481" r:id="rId7"/>
    <p:sldId id="273" r:id="rId8"/>
    <p:sldId id="459" r:id="rId9"/>
    <p:sldId id="262" r:id="rId10"/>
    <p:sldId id="263" r:id="rId11"/>
    <p:sldId id="258" r:id="rId12"/>
    <p:sldId id="473" r:id="rId13"/>
    <p:sldId id="483" r:id="rId14"/>
    <p:sldId id="488" r:id="rId15"/>
    <p:sldId id="484" r:id="rId16"/>
    <p:sldId id="280" r:id="rId17"/>
    <p:sldId id="485" r:id="rId18"/>
    <p:sldId id="487" r:id="rId19"/>
    <p:sldId id="486" r:id="rId20"/>
    <p:sldId id="489" r:id="rId21"/>
    <p:sldId id="495" r:id="rId22"/>
    <p:sldId id="494" r:id="rId23"/>
    <p:sldId id="491" r:id="rId24"/>
    <p:sldId id="490" r:id="rId25"/>
    <p:sldId id="492" r:id="rId26"/>
    <p:sldId id="493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3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43200" y="659520"/>
            <a:ext cx="6835200" cy="141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267" b="0" strike="noStrike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13335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345-46CF-4E4B-B7FA-10CCFABB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CFC4E-AFF5-47E0-9817-206B886C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F90E-3AB1-6F40-855E-9AE18E326101}" type="datetimeFigureOut">
              <a:rPr lang="es-ES_tradnl" smtClean="0"/>
              <a:t>23/05/2025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DB165-CC25-4444-8B52-2CCCE4E7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68E2C-C192-466E-B5A0-5769E2D2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CEEF-2F98-7F48-81C5-7DA04E2623E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639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F90E-3AB1-6F40-855E-9AE18E326101}" type="datetimeFigureOut">
              <a:rPr lang="es-ES_tradnl" smtClean="0"/>
              <a:t>23/05/2025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CEEF-2F98-7F48-81C5-7DA04E2623E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06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99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82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9;p2"/>
          <p:cNvGrpSpPr/>
          <p:nvPr/>
        </p:nvGrpSpPr>
        <p:grpSpPr>
          <a:xfrm>
            <a:off x="-4340160" y="-3681120"/>
            <a:ext cx="13386240" cy="8975040"/>
            <a:chOff x="-3255120" y="-2760840"/>
            <a:chExt cx="10039680" cy="6731280"/>
          </a:xfrm>
        </p:grpSpPr>
        <p:grpSp>
          <p:nvGrpSpPr>
            <p:cNvPr id="87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2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pic>
            <p:nvPicPr>
              <p:cNvPr id="3" name="Google Shape;12;p2"/>
              <p:cNvPicPr/>
              <p:nvPr/>
            </p:nvPicPr>
            <p:blipFill>
              <a:blip r:embed="rId5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9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0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3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6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8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19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2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4" name="Google Shape;33;p2"/>
          <p:cNvGrpSpPr/>
          <p:nvPr/>
        </p:nvGrpSpPr>
        <p:grpSpPr>
          <a:xfrm>
            <a:off x="8514240" y="4053120"/>
            <a:ext cx="5226720" cy="4284480"/>
            <a:chOff x="6385680" y="3039840"/>
            <a:chExt cx="3920040" cy="3213360"/>
          </a:xfrm>
        </p:grpSpPr>
        <p:pic>
          <p:nvPicPr>
            <p:cNvPr id="25" name="Google Shape;34;p2"/>
            <p:cNvPicPr/>
            <p:nvPr/>
          </p:nvPicPr>
          <p:blipFill>
            <a:blip r:embed="rId6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8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29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36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7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38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1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2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462560" y="1088640"/>
            <a:ext cx="929904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6" name="Google Shape;56;p2"/>
          <p:cNvGrpSpPr/>
          <p:nvPr/>
        </p:nvGrpSpPr>
        <p:grpSpPr>
          <a:xfrm>
            <a:off x="-412800" y="4824000"/>
            <a:ext cx="1930560" cy="2984160"/>
            <a:chOff x="-309600" y="3618000"/>
            <a:chExt cx="1447920" cy="2238120"/>
          </a:xfrm>
        </p:grpSpPr>
        <p:grpSp>
          <p:nvGrpSpPr>
            <p:cNvPr id="47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48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0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1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2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3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4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5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6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7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8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9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0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1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5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6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7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68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69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0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1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2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3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4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5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6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7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78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79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0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1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2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3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4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81941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9" r:id="rId3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960000" y="593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03" name="Google Shape;763;p19"/>
          <p:cNvGrpSpPr/>
          <p:nvPr/>
        </p:nvGrpSpPr>
        <p:grpSpPr>
          <a:xfrm>
            <a:off x="-128160" y="6517920"/>
            <a:ext cx="2120160" cy="117120"/>
            <a:chOff x="-96120" y="4888440"/>
            <a:chExt cx="1590120" cy="87840"/>
          </a:xfrm>
        </p:grpSpPr>
        <p:sp>
          <p:nvSpPr>
            <p:cNvPr id="40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06" name="Google Shape;766;p19"/>
          <p:cNvGrpSpPr/>
          <p:nvPr/>
        </p:nvGrpSpPr>
        <p:grpSpPr>
          <a:xfrm>
            <a:off x="9178080" y="1847520"/>
            <a:ext cx="5370720" cy="7044480"/>
            <a:chOff x="6883560" y="1385640"/>
            <a:chExt cx="4028040" cy="5283360"/>
          </a:xfrm>
        </p:grpSpPr>
        <p:sp>
          <p:nvSpPr>
            <p:cNvPr id="40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11" name="Google Shape;771;p19"/>
          <p:cNvGrpSpPr/>
          <p:nvPr/>
        </p:nvGrpSpPr>
        <p:grpSpPr>
          <a:xfrm>
            <a:off x="6130560" y="-2265600"/>
            <a:ext cx="7439520" cy="4270560"/>
            <a:chOff x="4597920" y="-1699200"/>
            <a:chExt cx="5579640" cy="3202920"/>
          </a:xfrm>
        </p:grpSpPr>
        <p:grpSp>
          <p:nvGrpSpPr>
            <p:cNvPr id="41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pic>
          <p:nvPicPr>
            <p:cNvPr id="416" name="Google Shape;776;p1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1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2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3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2770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960000" y="2772480"/>
            <a:ext cx="7463520" cy="112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667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2" name="PlaceHolder 2"/>
          <p:cNvSpPr>
            <a:spLocks noGrp="1"/>
          </p:cNvSpPr>
          <p:nvPr>
            <p:ph type="title"/>
          </p:nvPr>
        </p:nvSpPr>
        <p:spPr>
          <a:xfrm>
            <a:off x="960000" y="1367520"/>
            <a:ext cx="2269440" cy="132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266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8266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83" name="Google Shape;99;p3"/>
          <p:cNvGrpSpPr/>
          <p:nvPr/>
        </p:nvGrpSpPr>
        <p:grpSpPr>
          <a:xfrm>
            <a:off x="-718560" y="-2289600"/>
            <a:ext cx="5556000" cy="5548320"/>
            <a:chOff x="-538920" y="-1717200"/>
            <a:chExt cx="4167000" cy="4161240"/>
          </a:xfrm>
        </p:grpSpPr>
        <p:grpSp>
          <p:nvGrpSpPr>
            <p:cNvPr id="484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85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6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87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88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9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90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91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92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493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94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5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6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7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8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99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00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01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02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03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04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5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6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7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8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09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10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11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12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13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14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5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6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7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8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121917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24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9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20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21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2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3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524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32041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indent="0" algn="l" defTabSz="1219170" rtl="0" eaLnBrk="1" latinLnBrk="0" hangingPunct="1">
        <a:lnSpc>
          <a:spcPct val="10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960000" y="639840"/>
            <a:ext cx="4193280" cy="245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5514240" y="719520"/>
            <a:ext cx="5726400" cy="542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286" name="Google Shape;379;p9"/>
          <p:cNvGrpSpPr/>
          <p:nvPr/>
        </p:nvGrpSpPr>
        <p:grpSpPr>
          <a:xfrm>
            <a:off x="-3191520" y="-2180640"/>
            <a:ext cx="6280800" cy="7125600"/>
            <a:chOff x="-2393640" y="-1635480"/>
            <a:chExt cx="4710600" cy="5344200"/>
          </a:xfrm>
        </p:grpSpPr>
        <p:pic>
          <p:nvPicPr>
            <p:cNvPr id="1287" name="Google Shape;380;p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288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1289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1290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1291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2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93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1294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5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96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1297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8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121917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24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299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1300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1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02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1303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4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05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06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1307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8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9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0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1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2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3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14" name="Google Shape;407;p9"/>
          <p:cNvGrpSpPr/>
          <p:nvPr/>
        </p:nvGrpSpPr>
        <p:grpSpPr>
          <a:xfrm>
            <a:off x="8959680" y="3864480"/>
            <a:ext cx="5226720" cy="4284960"/>
            <a:chOff x="6719760" y="2898360"/>
            <a:chExt cx="3920040" cy="3213720"/>
          </a:xfrm>
        </p:grpSpPr>
        <p:sp>
          <p:nvSpPr>
            <p:cNvPr id="1315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pic>
          <p:nvPicPr>
            <p:cNvPr id="1316" name="Google Shape;409;p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317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1318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9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0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21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1322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3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4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121917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25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26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27" name="Google Shape;420;p9"/>
          <p:cNvGrpSpPr/>
          <p:nvPr/>
        </p:nvGrpSpPr>
        <p:grpSpPr>
          <a:xfrm>
            <a:off x="-2604000" y="6421920"/>
            <a:ext cx="6078240" cy="178560"/>
            <a:chOff x="-1953000" y="4816440"/>
            <a:chExt cx="4558680" cy="133920"/>
          </a:xfrm>
        </p:grpSpPr>
        <p:sp>
          <p:nvSpPr>
            <p:cNvPr id="1328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329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30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1219170">
                <a:lnSpc>
                  <a:spcPct val="100000"/>
                </a:lnSpc>
                <a:tabLst>
                  <a:tab pos="0" algn="l"/>
                </a:tabLst>
              </a:pPr>
              <a:endParaRPr lang="en-US" sz="24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153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.mid"/><Relationship Id="rId1" Type="http://schemas.microsoft.com/office/2007/relationships/media" Target="../media/media1.mid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cm.web.auth.gr/blendedharmonisations.html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cm.web.auth.gr/datasetdescription.html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16.png"/><Relationship Id="rId4" Type="http://schemas.openxmlformats.org/officeDocument/2006/relationships/image" Target="../media/image15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6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audio" Target="../media/media7.mp3"/><Relationship Id="rId11" Type="http://schemas.openxmlformats.org/officeDocument/2006/relationships/image" Target="../media/image23.png"/><Relationship Id="rId5" Type="http://schemas.microsoft.com/office/2007/relationships/media" Target="../media/media7.mp3"/><Relationship Id="rId10" Type="http://schemas.openxmlformats.org/officeDocument/2006/relationships/image" Target="../media/image22.png"/><Relationship Id="rId4" Type="http://schemas.openxmlformats.org/officeDocument/2006/relationships/audio" Target="../media/media6.mp3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ificia.pro/chameleons-blendings-premiere" TargetMode="External"/><Relationship Id="rId2" Type="http://schemas.openxmlformats.org/officeDocument/2006/relationships/hyperlink" Target="https://ccm.web.auth.gr/creativeusecomposers.html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id"/><Relationship Id="rId1" Type="http://schemas.microsoft.com/office/2007/relationships/media" Target="../media/media8.mid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id"/><Relationship Id="rId7" Type="http://schemas.openxmlformats.org/officeDocument/2006/relationships/image" Target="../media/image26.png"/><Relationship Id="rId2" Type="http://schemas.openxmlformats.org/officeDocument/2006/relationships/audio" Target="../media/media9.mid"/><Relationship Id="rId1" Type="http://schemas.microsoft.com/office/2007/relationships/media" Target="../media/media9.mid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4.xml"/><Relationship Id="rId4" Type="http://schemas.openxmlformats.org/officeDocument/2006/relationships/audio" Target="../media/media10.mid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1.mid"/><Relationship Id="rId1" Type="http://schemas.microsoft.com/office/2007/relationships/media" Target="../media/media11.mid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media" Target="../media/media13.mid"/><Relationship Id="rId7" Type="http://schemas.openxmlformats.org/officeDocument/2006/relationships/slideLayout" Target="../slideLayouts/slideLayout4.xml"/><Relationship Id="rId2" Type="http://schemas.openxmlformats.org/officeDocument/2006/relationships/audio" Target="../media/media12.mid"/><Relationship Id="rId1" Type="http://schemas.microsoft.com/office/2007/relationships/media" Target="../media/media12.mid"/><Relationship Id="rId6" Type="http://schemas.openxmlformats.org/officeDocument/2006/relationships/audio" Target="../media/media14.wav"/><Relationship Id="rId5" Type="http://schemas.microsoft.com/office/2007/relationships/media" Target="../media/media14.wav"/><Relationship Id="rId10" Type="http://schemas.openxmlformats.org/officeDocument/2006/relationships/image" Target="../media/image29.png"/><Relationship Id="rId4" Type="http://schemas.openxmlformats.org/officeDocument/2006/relationships/audio" Target="../media/media13.mid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christkoutso@gmail.co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ubTitle"/>
          </p:nvPr>
        </p:nvSpPr>
        <p:spPr>
          <a:xfrm>
            <a:off x="1460640" y="4609920"/>
            <a:ext cx="6514560" cy="6345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66933" lnSpcReduction="2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33" spc="-1" dirty="0">
                <a:solidFill>
                  <a:schemeClr val="dk1"/>
                </a:solidFill>
                <a:latin typeface="Poppins"/>
                <a:ea typeface="Poppins"/>
              </a:rPr>
              <a:t>An </a:t>
            </a:r>
            <a:r>
              <a:rPr lang="en" sz="2133" spc="-1" dirty="0">
                <a:solidFill>
                  <a:srgbClr val="FF0000"/>
                </a:solidFill>
                <a:latin typeface="Poppins"/>
                <a:ea typeface="Poppins"/>
              </a:rPr>
              <a:t>AI</a:t>
            </a:r>
            <a:r>
              <a:rPr lang="en" sz="2133" spc="-1" dirty="0">
                <a:solidFill>
                  <a:schemeClr val="dk1"/>
                </a:solidFill>
                <a:latin typeface="Poppins"/>
                <a:ea typeface="Poppins"/>
              </a:rPr>
              <a:t>-driven melody </a:t>
            </a:r>
            <a:r>
              <a:rPr lang="en" sz="2133" spc="-1" dirty="0">
                <a:solidFill>
                  <a:srgbClr val="00B050"/>
                </a:solidFill>
                <a:latin typeface="Poppins"/>
                <a:ea typeface="Poppins"/>
              </a:rPr>
              <a:t>harmonization</a:t>
            </a:r>
            <a:r>
              <a:rPr lang="en" sz="2133" spc="-1" dirty="0">
                <a:solidFill>
                  <a:schemeClr val="dk1"/>
                </a:solidFill>
                <a:latin typeface="Poppins"/>
                <a:ea typeface="Poppins"/>
              </a:rPr>
              <a:t> system based on Conceptual Blending.</a:t>
            </a:r>
            <a:endParaRPr lang="en-US" sz="2133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 type="title"/>
          </p:nvPr>
        </p:nvSpPr>
        <p:spPr>
          <a:xfrm>
            <a:off x="1460640" y="1092000"/>
            <a:ext cx="9296160" cy="309840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6000" b="1" spc="-1" dirty="0">
                <a:solidFill>
                  <a:schemeClr val="dk2"/>
                </a:solidFill>
                <a:latin typeface="IBM Plex Mono"/>
                <a:ea typeface="IBM Plex Mono"/>
              </a:rPr>
              <a:t>CHAMELEON</a:t>
            </a:r>
            <a:endParaRPr lang="fr-FR" sz="6000" spc="-1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336" name="Google Shape;1432;p35"/>
          <p:cNvGrpSpPr/>
          <p:nvPr/>
        </p:nvGrpSpPr>
        <p:grpSpPr>
          <a:xfrm>
            <a:off x="1462080" y="4323840"/>
            <a:ext cx="5248800" cy="178080"/>
            <a:chOff x="1096560" y="3242880"/>
            <a:chExt cx="3936600" cy="133560"/>
          </a:xfrm>
        </p:grpSpPr>
        <p:cxnSp>
          <p:nvCxnSpPr>
            <p:cNvPr id="1337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1338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1339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0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880" bIns="62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41" name="Google Shape;1437;p35"/>
          <p:cNvGrpSpPr/>
          <p:nvPr/>
        </p:nvGrpSpPr>
        <p:grpSpPr>
          <a:xfrm>
            <a:off x="10690560" y="-418080"/>
            <a:ext cx="178080" cy="2520480"/>
            <a:chOff x="8017920" y="-313560"/>
            <a:chExt cx="133560" cy="1890360"/>
          </a:xfrm>
        </p:grpSpPr>
        <p:sp>
          <p:nvSpPr>
            <p:cNvPr id="1342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880" bIns="628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343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44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345" name="Google Shape;1441;p35"/>
          <p:cNvGrpSpPr/>
          <p:nvPr/>
        </p:nvGrpSpPr>
        <p:grpSpPr>
          <a:xfrm>
            <a:off x="8412480" y="1276800"/>
            <a:ext cx="4673280" cy="6825120"/>
            <a:chOff x="6309360" y="957600"/>
            <a:chExt cx="3504960" cy="5118840"/>
          </a:xfrm>
        </p:grpSpPr>
        <p:sp>
          <p:nvSpPr>
            <p:cNvPr id="1346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47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1348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880" bIns="62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9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120" bIns="451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50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1351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880" bIns="62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2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120" bIns="451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53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1354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880" bIns="62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5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120" bIns="451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56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965280" y="1371840"/>
            <a:ext cx="2272800" cy="132048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" sz="8266" b="1" spc="-1">
                <a:solidFill>
                  <a:schemeClr val="dk2"/>
                </a:solidFill>
                <a:latin typeface="Poppins"/>
                <a:ea typeface="Poppins"/>
              </a:rPr>
              <a:t>01</a:t>
            </a:r>
            <a:endParaRPr lang="fr-FR" sz="8266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 type="subTitle"/>
          </p:nvPr>
        </p:nvSpPr>
        <p:spPr>
          <a:xfrm>
            <a:off x="965280" y="4330560"/>
            <a:ext cx="7467360" cy="60912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/>
          </a:bodyPr>
          <a:lstStyle/>
          <a:p>
            <a:pPr indent="0" algn="ctr">
              <a:buNone/>
            </a:pPr>
            <a:r>
              <a:rPr lang="en-US" sz="1867" spc="-1" dirty="0">
                <a:solidFill>
                  <a:schemeClr val="dk1"/>
                </a:solidFill>
                <a:latin typeface="Poppins"/>
                <a:ea typeface="Poppins"/>
              </a:rPr>
              <a:t>HOW MANY HARMONIES </a:t>
            </a:r>
            <a:r>
              <a:rPr lang="en-US" sz="1867" b="1" spc="-1" dirty="0">
                <a:solidFill>
                  <a:schemeClr val="accent3">
                    <a:lumMod val="75000"/>
                  </a:schemeClr>
                </a:solidFill>
                <a:latin typeface="Poppins"/>
                <a:ea typeface="Poppins"/>
              </a:rPr>
              <a:t>HIDE</a:t>
            </a:r>
            <a:r>
              <a:rPr lang="en-US" sz="1867" spc="-1" dirty="0">
                <a:solidFill>
                  <a:schemeClr val="dk1"/>
                </a:solidFill>
                <a:latin typeface="Poppins"/>
                <a:ea typeface="Poppins"/>
              </a:rPr>
              <a:t> IN 8 NOTES?</a:t>
            </a:r>
          </a:p>
        </p:txBody>
      </p:sp>
      <p:grpSp>
        <p:nvGrpSpPr>
          <p:cNvPr id="1370" name="Google Shape;1485;p38"/>
          <p:cNvGrpSpPr/>
          <p:nvPr/>
        </p:nvGrpSpPr>
        <p:grpSpPr>
          <a:xfrm>
            <a:off x="-499200" y="4472640"/>
            <a:ext cx="5229600" cy="3959520"/>
            <a:chOff x="-374400" y="3354480"/>
            <a:chExt cx="3922200" cy="2969640"/>
          </a:xfrm>
        </p:grpSpPr>
        <p:grpSp>
          <p:nvGrpSpPr>
            <p:cNvPr id="1371" name="Google Shape;1487;p38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372" name="Google Shape;1488;p38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3" name="Google Shape;1489;p38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4" name="Google Shape;1490;p38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375" name="PlaceHolder 3"/>
          <p:cNvSpPr>
            <a:spLocks noGrp="1"/>
          </p:cNvSpPr>
          <p:nvPr>
            <p:ph type="title"/>
          </p:nvPr>
        </p:nvSpPr>
        <p:spPr>
          <a:xfrm>
            <a:off x="965280" y="2768640"/>
            <a:ext cx="7261920" cy="104304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" sz="3733" b="1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Mono"/>
                <a:ea typeface="IBM Plex Mono"/>
              </a:rPr>
              <a:t>CONCEPTUAL BLENDING</a:t>
            </a:r>
            <a:r>
              <a:rPr lang="en" sz="3733" b="1" spc="-1" dirty="0">
                <a:solidFill>
                  <a:schemeClr val="dk2"/>
                </a:solidFill>
                <a:latin typeface="IBM Plex Mono"/>
                <a:ea typeface="IBM Plex Mono"/>
              </a:rPr>
              <a:t> AS A CREATIVE MUSIC SYSTEM</a:t>
            </a:r>
            <a:endParaRPr lang="fr-FR" sz="3733" spc="-1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376" name="Google Shape;1492;p38"/>
          <p:cNvGrpSpPr/>
          <p:nvPr/>
        </p:nvGrpSpPr>
        <p:grpSpPr>
          <a:xfrm>
            <a:off x="8650080" y="-1734720"/>
            <a:ext cx="5690400" cy="8887200"/>
            <a:chOff x="6487560" y="-1301040"/>
            <a:chExt cx="4267800" cy="6665400"/>
          </a:xfrm>
        </p:grpSpPr>
        <p:sp>
          <p:nvSpPr>
            <p:cNvPr id="1377" name="Google Shape;1493;p38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8" name="Google Shape;1494;p38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9" name="Google Shape;1495;p38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0" name="Google Shape;1496;p38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1" name="Google Shape;1497;p38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82" name="Google Shape;1499;p38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383" name="Google Shape;1500;p38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4" name="Google Shape;1501;p38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5" name="Google Shape;1502;p38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6" name="Google Shape;1503;p38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7" name="Google Shape;1504;p38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8" name="Google Shape;1505;p38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9" name="Google Shape;1506;p38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90" name="Google Shape;1507;p38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391" name="Google Shape;1508;p38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2" name="Google Shape;1509;p38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3" name="Google Shape;1510;p38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4" name="Google Shape;1511;p38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5" name="Google Shape;1512;p38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6" name="Google Shape;1513;p38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7" name="Google Shape;1514;p38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98" name="Google Shape;1515;p38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399" name="Google Shape;1516;p38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0" name="Google Shape;1517;p38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01" name="Google Shape;1518;p38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402" name="Google Shape;1519;p38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3" name="Google Shape;1520;p38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404" name="Google Shape;1521;p38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600" bIns="696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05" name="Google Shape;1522;p38"/>
          <p:cNvGrpSpPr/>
          <p:nvPr/>
        </p:nvGrpSpPr>
        <p:grpSpPr>
          <a:xfrm>
            <a:off x="1061280" y="4026240"/>
            <a:ext cx="6078720" cy="178560"/>
            <a:chOff x="795960" y="3019680"/>
            <a:chExt cx="4559040" cy="133920"/>
          </a:xfrm>
        </p:grpSpPr>
        <p:sp>
          <p:nvSpPr>
            <p:cNvPr id="1406" name="Google Shape;1523;p38"/>
            <p:cNvSpPr/>
            <p:nvPr/>
          </p:nvSpPr>
          <p:spPr>
            <a:xfrm>
              <a:off x="5221080" y="30196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407" name="Google Shape;1524;p38"/>
            <p:cNvCxnSpPr/>
            <p:nvPr/>
          </p:nvCxnSpPr>
          <p:spPr>
            <a:xfrm>
              <a:off x="795960" y="308664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408" name="Google Shape;1525;p38"/>
            <p:cNvSpPr/>
            <p:nvPr/>
          </p:nvSpPr>
          <p:spPr>
            <a:xfrm>
              <a:off x="5250960" y="30499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</p:grpSp>
      <p:pic>
        <p:nvPicPr>
          <p:cNvPr id="2" name="Catalonia — El Cant Dels Ocells [MIDIfind.com]">
            <a:hlinkClick r:id="" action="ppaction://media"/>
            <a:extLst>
              <a:ext uri="{FF2B5EF4-FFF2-40B4-BE49-F238E27FC236}">
                <a16:creationId xmlns:a16="http://schemas.microsoft.com/office/drawing/2014/main" id="{3682B7F2-13A6-D605-ABB5-D4EBC95E01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6400" y="4204800"/>
            <a:ext cx="812800" cy="812800"/>
          </a:xfrm>
          <a:prstGeom prst="rect">
            <a:avLst/>
          </a:prstGeom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4CBE4A91-87CA-9306-F778-D264FE74102A}"/>
              </a:ext>
            </a:extLst>
          </p:cNvPr>
          <p:cNvSpPr txBox="1">
            <a:spLocks/>
          </p:cNvSpPr>
          <p:nvPr/>
        </p:nvSpPr>
        <p:spPr>
          <a:xfrm>
            <a:off x="8851437" y="4448400"/>
            <a:ext cx="1340640" cy="32032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indent="0" algn="ctr" defTabSz="1219170">
              <a:spcBef>
                <a:spcPts val="1333"/>
              </a:spcBef>
              <a:buNone/>
            </a:pPr>
            <a:r>
              <a:rPr lang="en-US" sz="1867" spc="-1" dirty="0">
                <a:solidFill>
                  <a:srgbClr val="1D1D1D"/>
                </a:solidFill>
                <a:latin typeface="Poppins"/>
                <a:ea typeface="Poppins"/>
              </a:rPr>
              <a:t>El cant dels </a:t>
            </a:r>
            <a:r>
              <a:rPr lang="en-US" sz="1867" spc="-1" dirty="0" err="1">
                <a:solidFill>
                  <a:srgbClr val="1D1D1D"/>
                </a:solidFill>
                <a:latin typeface="Poppins"/>
                <a:ea typeface="Poppins"/>
              </a:rPr>
              <a:t>ocells</a:t>
            </a:r>
            <a:endParaRPr lang="en-US" sz="1867" spc="-1" dirty="0">
              <a:solidFill>
                <a:srgbClr val="1D1D1D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7B34F85B-284F-49F5-B34E-CC0F1AFC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792" y="161326"/>
            <a:ext cx="1251335" cy="1357509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012A972-34B9-4C49-9AB5-D3D334AFE8C5}"/>
              </a:ext>
            </a:extLst>
          </p:cNvPr>
          <p:cNvGrpSpPr/>
          <p:nvPr/>
        </p:nvGrpSpPr>
        <p:grpSpPr>
          <a:xfrm>
            <a:off x="6380100" y="367868"/>
            <a:ext cx="2873544" cy="2667178"/>
            <a:chOff x="1426002" y="335025"/>
            <a:chExt cx="2873544" cy="2667178"/>
          </a:xfrm>
        </p:grpSpPr>
        <p:pic>
          <p:nvPicPr>
            <p:cNvPr id="18" name="Picture 17" descr="A picture containing ball, athletic game, tennis&#10;&#10;Description automatically generated">
              <a:extLst>
                <a:ext uri="{FF2B5EF4-FFF2-40B4-BE49-F238E27FC236}">
                  <a16:creationId xmlns:a16="http://schemas.microsoft.com/office/drawing/2014/main" id="{1F746CEC-29B7-4126-BBCA-32DEFC927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611" y="909235"/>
              <a:ext cx="1849214" cy="157737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0D1AA89-19A7-407A-914D-BAA19178327F}"/>
                </a:ext>
              </a:extLst>
            </p:cNvPr>
            <p:cNvSpPr txBox="1"/>
            <p:nvPr/>
          </p:nvSpPr>
          <p:spPr>
            <a:xfrm>
              <a:off x="1544662" y="335025"/>
              <a:ext cx="2313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Planets             Atom</a:t>
              </a:r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2FC667-E3C5-4F10-B83B-6FDA720ECC4B}"/>
                </a:ext>
              </a:extLst>
            </p:cNvPr>
            <p:cNvSpPr txBox="1"/>
            <p:nvPr/>
          </p:nvSpPr>
          <p:spPr>
            <a:xfrm>
              <a:off x="1426002" y="2632871"/>
              <a:ext cx="2873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Rutherford’s atomic model</a:t>
              </a:r>
              <a:endParaRPr lang="en-GB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740E44C-2900-4336-AC61-E9D5CAABC9CC}"/>
                </a:ext>
              </a:extLst>
            </p:cNvPr>
            <p:cNvCxnSpPr>
              <a:cxnSpLocks/>
            </p:cNvCxnSpPr>
            <p:nvPr/>
          </p:nvCxnSpPr>
          <p:spPr>
            <a:xfrm>
              <a:off x="1987891" y="693185"/>
              <a:ext cx="227781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EE223EF-ABF1-4D41-B1A1-0D4FD226C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4138" y="695969"/>
              <a:ext cx="199412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86F4F64-0A24-49A2-9308-527144F4E40D}"/>
              </a:ext>
            </a:extLst>
          </p:cNvPr>
          <p:cNvGrpSpPr/>
          <p:nvPr/>
        </p:nvGrpSpPr>
        <p:grpSpPr>
          <a:xfrm>
            <a:off x="2319740" y="3561042"/>
            <a:ext cx="2428935" cy="3046441"/>
            <a:chOff x="795739" y="3561041"/>
            <a:chExt cx="2428935" cy="3046441"/>
          </a:xfrm>
        </p:grpSpPr>
        <p:pic>
          <p:nvPicPr>
            <p:cNvPr id="9" name="Picture 8" descr="A knife with a black handle&#10;&#10;Description automatically generated with low confidence">
              <a:extLst>
                <a:ext uri="{FF2B5EF4-FFF2-40B4-BE49-F238E27FC236}">
                  <a16:creationId xmlns:a16="http://schemas.microsoft.com/office/drawing/2014/main" id="{41302914-3673-4E0D-956C-37D97D6E3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7848" y="4521755"/>
              <a:ext cx="1856022" cy="154668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8D68044-171A-48FA-AA71-46B3FDCF12C9}"/>
                </a:ext>
              </a:extLst>
            </p:cNvPr>
            <p:cNvSpPr txBox="1"/>
            <p:nvPr/>
          </p:nvSpPr>
          <p:spPr>
            <a:xfrm>
              <a:off x="795739" y="3561041"/>
              <a:ext cx="24289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Toothbrush    </a:t>
              </a:r>
              <a:r>
                <a:rPr lang="en-US" dirty="0" err="1"/>
                <a:t>Jacknife</a:t>
              </a:r>
              <a:endParaRPr lang="en-GB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ED0B6A-631F-420B-9CAE-BACA7A93757B}"/>
                </a:ext>
              </a:extLst>
            </p:cNvPr>
            <p:cNvSpPr txBox="1"/>
            <p:nvPr/>
          </p:nvSpPr>
          <p:spPr>
            <a:xfrm>
              <a:off x="1017848" y="6238150"/>
              <a:ext cx="2095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Folding toothbrush</a:t>
              </a:r>
              <a:endParaRPr lang="en-GB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F5EEE6F-10B3-4EEE-826C-06F51299BC79}"/>
                </a:ext>
              </a:extLst>
            </p:cNvPr>
            <p:cNvCxnSpPr>
              <a:cxnSpLocks/>
            </p:cNvCxnSpPr>
            <p:nvPr/>
          </p:nvCxnSpPr>
          <p:spPr>
            <a:xfrm>
              <a:off x="1361270" y="4020714"/>
              <a:ext cx="227781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49B9A8A-9F10-49A9-9112-F3825D8E6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9909" y="4016475"/>
              <a:ext cx="199412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5A7B82-E485-40A4-B1A8-4A5853B2D161}"/>
              </a:ext>
            </a:extLst>
          </p:cNvPr>
          <p:cNvGrpSpPr/>
          <p:nvPr/>
        </p:nvGrpSpPr>
        <p:grpSpPr>
          <a:xfrm>
            <a:off x="2976313" y="367869"/>
            <a:ext cx="3063498" cy="2655811"/>
            <a:chOff x="4402019" y="338402"/>
            <a:chExt cx="3063498" cy="2655811"/>
          </a:xfrm>
        </p:grpSpPr>
        <p:pic>
          <p:nvPicPr>
            <p:cNvPr id="20" name="Picture 19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A0B8893-7223-403C-BDD5-9A3159C46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2019" y="989013"/>
              <a:ext cx="3063498" cy="1466158"/>
            </a:xfrm>
            <a:prstGeom prst="rect">
              <a:avLst/>
            </a:prstGeom>
          </p:spPr>
        </p:pic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37FCCDE-7222-4148-9246-BA82464D8F87}"/>
                </a:ext>
              </a:extLst>
            </p:cNvPr>
            <p:cNvCxnSpPr>
              <a:cxnSpLocks/>
            </p:cNvCxnSpPr>
            <p:nvPr/>
          </p:nvCxnSpPr>
          <p:spPr>
            <a:xfrm>
              <a:off x="5290355" y="760710"/>
              <a:ext cx="227781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986B880-BCA1-48B6-99F8-DACB1CC34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8997" y="756471"/>
              <a:ext cx="199412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11FA28-8231-44A2-8D84-25AFCA63C124}"/>
                </a:ext>
              </a:extLst>
            </p:cNvPr>
            <p:cNvSpPr txBox="1"/>
            <p:nvPr/>
          </p:nvSpPr>
          <p:spPr>
            <a:xfrm>
              <a:off x="4714067" y="338402"/>
              <a:ext cx="2608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Boat                    House</a:t>
              </a:r>
              <a:endParaRPr lang="en-GB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A6E0F9-B90F-49FB-9FDB-3DC113D5AC4D}"/>
                </a:ext>
              </a:extLst>
            </p:cNvPr>
            <p:cNvSpPr txBox="1"/>
            <p:nvPr/>
          </p:nvSpPr>
          <p:spPr>
            <a:xfrm>
              <a:off x="5355937" y="2624881"/>
              <a:ext cx="1287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Boathouse</a:t>
              </a:r>
              <a:endParaRPr lang="en-GB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F08B974-19CA-408F-A17B-222DFF5251BD}"/>
              </a:ext>
            </a:extLst>
          </p:cNvPr>
          <p:cNvGrpSpPr/>
          <p:nvPr/>
        </p:nvGrpSpPr>
        <p:grpSpPr>
          <a:xfrm>
            <a:off x="5010062" y="3543274"/>
            <a:ext cx="2503648" cy="3064209"/>
            <a:chOff x="3486062" y="3543273"/>
            <a:chExt cx="2503648" cy="3064209"/>
          </a:xfrm>
        </p:grpSpPr>
        <p:pic>
          <p:nvPicPr>
            <p:cNvPr id="22" name="Picture 21" descr="A drawing of a horse&#10;&#10;Description automatically generated with medium confidence">
              <a:extLst>
                <a:ext uri="{FF2B5EF4-FFF2-40B4-BE49-F238E27FC236}">
                  <a16:creationId xmlns:a16="http://schemas.microsoft.com/office/drawing/2014/main" id="{4444E2E6-9C57-4E8F-A7E0-A36751D2EA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0161"/>
            <a:stretch/>
          </p:blipFill>
          <p:spPr>
            <a:xfrm>
              <a:off x="3486062" y="4177568"/>
              <a:ext cx="2489557" cy="2387995"/>
            </a:xfrm>
            <a:prstGeom prst="rect">
              <a:avLst/>
            </a:prstGeom>
          </p:spPr>
        </p:pic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3E1C39C-F88C-4C73-B3ED-33FEC0B10ADE}"/>
                </a:ext>
              </a:extLst>
            </p:cNvPr>
            <p:cNvCxnSpPr>
              <a:cxnSpLocks/>
            </p:cNvCxnSpPr>
            <p:nvPr/>
          </p:nvCxnSpPr>
          <p:spPr>
            <a:xfrm>
              <a:off x="4344219" y="3936489"/>
              <a:ext cx="227781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BEB1F9C-789D-45F8-AF31-0B2446A605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538" y="3932250"/>
              <a:ext cx="199412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BF59299-79C6-4D6E-A18B-26067B4F7C8D}"/>
                </a:ext>
              </a:extLst>
            </p:cNvPr>
            <p:cNvSpPr txBox="1"/>
            <p:nvPr/>
          </p:nvSpPr>
          <p:spPr>
            <a:xfrm>
              <a:off x="3753200" y="3543273"/>
              <a:ext cx="2236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Horse                Bird</a:t>
              </a:r>
              <a:endParaRPr lang="en-GB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7E1FEE5-D01F-4D5C-9ACE-2BD43253F4D6}"/>
                </a:ext>
              </a:extLst>
            </p:cNvPr>
            <p:cNvSpPr txBox="1"/>
            <p:nvPr/>
          </p:nvSpPr>
          <p:spPr>
            <a:xfrm>
              <a:off x="4604154" y="6238150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Pegasus</a:t>
              </a:r>
              <a:endParaRPr lang="en-GB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DEE47BD-8F66-40BE-80C6-86FA8277B200}"/>
              </a:ext>
            </a:extLst>
          </p:cNvPr>
          <p:cNvGrpSpPr/>
          <p:nvPr/>
        </p:nvGrpSpPr>
        <p:grpSpPr>
          <a:xfrm>
            <a:off x="8131949" y="3537157"/>
            <a:ext cx="2380247" cy="3069234"/>
            <a:chOff x="6607948" y="3537157"/>
            <a:chExt cx="2380247" cy="30692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B072728-6F23-4A32-AC58-1C9D1818E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7948" y="3864805"/>
              <a:ext cx="1736124" cy="2521225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59DBEA6-9AC0-48B5-925C-E3B3BB887E22}"/>
                </a:ext>
              </a:extLst>
            </p:cNvPr>
            <p:cNvCxnSpPr>
              <a:cxnSpLocks/>
            </p:cNvCxnSpPr>
            <p:nvPr/>
          </p:nvCxnSpPr>
          <p:spPr>
            <a:xfrm>
              <a:off x="7067778" y="3909961"/>
              <a:ext cx="227781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8059C23-67E2-407D-9B1C-FB0B1B1FC9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832" y="3911052"/>
              <a:ext cx="199412" cy="2665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2DE9ABA-2B66-44F6-B880-365FAC7A1E0C}"/>
                </a:ext>
              </a:extLst>
            </p:cNvPr>
            <p:cNvSpPr txBox="1"/>
            <p:nvPr/>
          </p:nvSpPr>
          <p:spPr>
            <a:xfrm>
              <a:off x="6700389" y="3537157"/>
              <a:ext cx="2287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Human             Duck</a:t>
              </a:r>
              <a:endParaRPr lang="en-GB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C9C3D5-9936-4E81-BDC3-A6BA82FDCFBC}"/>
                </a:ext>
              </a:extLst>
            </p:cNvPr>
            <p:cNvSpPr txBox="1"/>
            <p:nvPr/>
          </p:nvSpPr>
          <p:spPr>
            <a:xfrm>
              <a:off x="6945013" y="6237059"/>
              <a:ext cx="1505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Donald Duck</a:t>
              </a:r>
              <a:endParaRPr lang="en-GB" dirty="0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id="{5E611B46-3775-4CB8-BA17-CDE423E0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628928" y="1341542"/>
            <a:ext cx="32960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Some Blends</a:t>
            </a:r>
            <a:endParaRPr lang="el-GR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02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1B56-F124-B37E-B314-7DAB38B6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>
            <a:extLst>
              <a:ext uri="{FF2B5EF4-FFF2-40B4-BE49-F238E27FC236}">
                <a16:creationId xmlns:a16="http://schemas.microsoft.com/office/drawing/2014/main" id="{7377BD3B-6398-A710-DB8C-B343EE35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80" y="597120"/>
            <a:ext cx="10273920" cy="7617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4000" b="1" spc="-1" dirty="0">
                <a:solidFill>
                  <a:schemeClr val="dk2"/>
                </a:solidFill>
                <a:latin typeface="IBM Plex Mono"/>
                <a:ea typeface="IBM Plex Mono"/>
              </a:rPr>
              <a:t>CONCEPTUAL BLENDING</a:t>
            </a:r>
            <a:endParaRPr lang="fr-FR" sz="4000" spc="-1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434" name="Google Shape;1533;p39">
            <a:extLst>
              <a:ext uri="{FF2B5EF4-FFF2-40B4-BE49-F238E27FC236}">
                <a16:creationId xmlns:a16="http://schemas.microsoft.com/office/drawing/2014/main" id="{9E3FE3E2-10A4-7625-6CF4-A41DE3EBC742}"/>
              </a:ext>
            </a:extLst>
          </p:cNvPr>
          <p:cNvGrpSpPr/>
          <p:nvPr/>
        </p:nvGrpSpPr>
        <p:grpSpPr>
          <a:xfrm>
            <a:off x="-165120" y="5509920"/>
            <a:ext cx="6078240" cy="1520640"/>
            <a:chOff x="-123840" y="4132440"/>
            <a:chExt cx="4558680" cy="1140480"/>
          </a:xfrm>
        </p:grpSpPr>
        <p:grpSp>
          <p:nvGrpSpPr>
            <p:cNvPr id="1435" name="Google Shape;1534;p39">
              <a:extLst>
                <a:ext uri="{FF2B5EF4-FFF2-40B4-BE49-F238E27FC236}">
                  <a16:creationId xmlns:a16="http://schemas.microsoft.com/office/drawing/2014/main" id="{36883A20-1FFF-3827-DC54-BA6F54381A55}"/>
                </a:ext>
              </a:extLst>
            </p:cNvPr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36" name="Google Shape;1535;p39">
                <a:extLst>
                  <a:ext uri="{FF2B5EF4-FFF2-40B4-BE49-F238E27FC236}">
                    <a16:creationId xmlns:a16="http://schemas.microsoft.com/office/drawing/2014/main" id="{054F2E2B-EA88-1674-4752-8A88ACE2C335}"/>
                  </a:ext>
                </a:extLst>
              </p:cNvPr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37" name="Google Shape;1536;p39">
                <a:extLst>
                  <a:ext uri="{FF2B5EF4-FFF2-40B4-BE49-F238E27FC236}">
                    <a16:creationId xmlns:a16="http://schemas.microsoft.com/office/drawing/2014/main" id="{93190D53-6AEF-D961-3DAD-28957A03F2A4}"/>
                  </a:ext>
                </a:extLst>
              </p:cNvPr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38" name="Google Shape;1537;p39">
              <a:extLst>
                <a:ext uri="{FF2B5EF4-FFF2-40B4-BE49-F238E27FC236}">
                  <a16:creationId xmlns:a16="http://schemas.microsoft.com/office/drawing/2014/main" id="{95B115F1-68AC-F2A0-339F-B117DA426EF4}"/>
                </a:ext>
              </a:extLst>
            </p:cNvPr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39" name="Google Shape;1538;p39">
                <a:extLst>
                  <a:ext uri="{FF2B5EF4-FFF2-40B4-BE49-F238E27FC236}">
                    <a16:creationId xmlns:a16="http://schemas.microsoft.com/office/drawing/2014/main" id="{DA788501-B34F-206E-11AC-5838385556F0}"/>
                  </a:ext>
                </a:extLst>
              </p:cNvPr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440" name="Google Shape;1539;p39">
                <a:extLst>
                  <a:ext uri="{FF2B5EF4-FFF2-40B4-BE49-F238E27FC236}">
                    <a16:creationId xmlns:a16="http://schemas.microsoft.com/office/drawing/2014/main" id="{FE8237CB-AE99-531A-2E14-585DE6290E31}"/>
                  </a:ext>
                </a:extLst>
              </p:cNvPr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41" name="Google Shape;1540;p39">
                <a:extLst>
                  <a:ext uri="{FF2B5EF4-FFF2-40B4-BE49-F238E27FC236}">
                    <a16:creationId xmlns:a16="http://schemas.microsoft.com/office/drawing/2014/main" id="{F41AE7AA-D810-C6BB-9948-0A4C3D491225}"/>
                  </a:ext>
                </a:extLst>
              </p:cNvPr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2652B1-55C3-9E65-DC61-BEF4FDB3897C}"/>
              </a:ext>
            </a:extLst>
          </p:cNvPr>
          <p:cNvCxnSpPr>
            <a:cxnSpLocks/>
          </p:cNvCxnSpPr>
          <p:nvPr/>
        </p:nvCxnSpPr>
        <p:spPr>
          <a:xfrm flipH="1">
            <a:off x="1557781" y="1957312"/>
            <a:ext cx="8835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4C7D64-119A-3456-5287-94B4776E5DB2}"/>
              </a:ext>
            </a:extLst>
          </p:cNvPr>
          <p:cNvSpPr txBox="1"/>
          <p:nvPr/>
        </p:nvSpPr>
        <p:spPr>
          <a:xfrm>
            <a:off x="2296973" y="3406055"/>
            <a:ext cx="7356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n-US" sz="2400" dirty="0">
                <a:solidFill>
                  <a:srgbClr val="1D1D1D"/>
                </a:solidFill>
                <a:latin typeface="Arial"/>
                <a:hlinkClick r:id="rId2"/>
              </a:rPr>
              <a:t>https://ccm.web.auth.gr/blendedharmonisations.html</a:t>
            </a:r>
            <a:endParaRPr lang="en-US" sz="2400" dirty="0">
              <a:solidFill>
                <a:srgbClr val="1D1D1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700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2209800" y="892084"/>
            <a:ext cx="7086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1" i="0" kern="1200">
                <a:solidFill>
                  <a:srgbClr val="00A8A0"/>
                </a:solidFill>
                <a:latin typeface="Helvetica Neue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Blending in harmony</a:t>
            </a: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2209800" y="2207501"/>
            <a:ext cx="6400800" cy="451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515151"/>
                </a:solidFill>
                <a:latin typeface="Helvetica Neue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515151"/>
                </a:solidFill>
                <a:latin typeface="Helvetica Neue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515151"/>
                </a:solidFill>
                <a:latin typeface="Helvetica Neue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515151"/>
                </a:solidFill>
                <a:latin typeface="Helvetica Neue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515151"/>
                </a:solidFill>
                <a:latin typeface="Helvetica Neue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CHAMELEON  </a:t>
            </a:r>
            <a:r>
              <a:rPr lang="en-US" sz="2800" dirty="0" err="1"/>
              <a:t>harmonisation</a:t>
            </a:r>
            <a:r>
              <a:rPr lang="en-US" sz="2800" dirty="0"/>
              <a:t> assistant</a:t>
            </a:r>
          </a:p>
        </p:txBody>
      </p:sp>
      <p:pic>
        <p:nvPicPr>
          <p:cNvPr id="7" name="Picture 6" descr="systemOverview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2743200"/>
            <a:ext cx="811960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5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965280" y="1371840"/>
            <a:ext cx="2272800" cy="132048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" sz="8266" b="1" spc="-1">
                <a:solidFill>
                  <a:schemeClr val="dk2"/>
                </a:solidFill>
                <a:latin typeface="Poppins"/>
                <a:ea typeface="Poppins"/>
              </a:rPr>
              <a:t>02</a:t>
            </a:r>
            <a:endParaRPr lang="fr-FR" sz="8266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43" name="PlaceHolder 2"/>
          <p:cNvSpPr>
            <a:spLocks noGrp="1"/>
          </p:cNvSpPr>
          <p:nvPr>
            <p:ph type="subTitle"/>
          </p:nvPr>
        </p:nvSpPr>
        <p:spPr>
          <a:xfrm>
            <a:off x="965280" y="4330560"/>
            <a:ext cx="7467360" cy="60912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/>
          </a:bodyPr>
          <a:lstStyle/>
          <a:p>
            <a:pPr indent="0" algn="ctr">
              <a:buNone/>
            </a:pPr>
            <a:r>
              <a:rPr lang="en-US" sz="1867" spc="-1" dirty="0">
                <a:solidFill>
                  <a:schemeClr val="dk1"/>
                </a:solidFill>
                <a:latin typeface="Poppins"/>
                <a:ea typeface="Poppins"/>
              </a:rPr>
              <a:t>Under the hood</a:t>
            </a:r>
          </a:p>
        </p:txBody>
      </p:sp>
      <p:grpSp>
        <p:nvGrpSpPr>
          <p:cNvPr id="1444" name="Google Shape;1485;p38"/>
          <p:cNvGrpSpPr/>
          <p:nvPr/>
        </p:nvGrpSpPr>
        <p:grpSpPr>
          <a:xfrm>
            <a:off x="-499200" y="4472640"/>
            <a:ext cx="5229600" cy="3959520"/>
            <a:chOff x="-374400" y="3354480"/>
            <a:chExt cx="3922200" cy="2969640"/>
          </a:xfrm>
        </p:grpSpPr>
        <p:grpSp>
          <p:nvGrpSpPr>
            <p:cNvPr id="1445" name="Google Shape;1487;p38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446" name="Google Shape;1488;p38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7" name="Google Shape;1489;p38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8" name="Google Shape;1490;p38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449" name="PlaceHolder 3"/>
          <p:cNvSpPr>
            <a:spLocks noGrp="1"/>
          </p:cNvSpPr>
          <p:nvPr>
            <p:ph type="title"/>
          </p:nvPr>
        </p:nvSpPr>
        <p:spPr>
          <a:xfrm>
            <a:off x="965280" y="2768640"/>
            <a:ext cx="7467360" cy="11169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" sz="6667" b="1" spc="-1">
                <a:solidFill>
                  <a:schemeClr val="dk2"/>
                </a:solidFill>
                <a:latin typeface="IBM Plex Mono"/>
                <a:ea typeface="IBM Plex Mono"/>
              </a:rPr>
              <a:t>Functionality</a:t>
            </a:r>
            <a:endParaRPr lang="fr-FR" sz="6667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450" name="Google Shape;1492;p38"/>
          <p:cNvGrpSpPr/>
          <p:nvPr/>
        </p:nvGrpSpPr>
        <p:grpSpPr>
          <a:xfrm>
            <a:off x="8650080" y="-1734720"/>
            <a:ext cx="5690400" cy="8887200"/>
            <a:chOff x="6487560" y="-1301040"/>
            <a:chExt cx="4267800" cy="6665400"/>
          </a:xfrm>
        </p:grpSpPr>
        <p:sp>
          <p:nvSpPr>
            <p:cNvPr id="1451" name="Google Shape;1493;p38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2" name="Google Shape;1494;p38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3" name="Google Shape;1495;p38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4" name="Google Shape;1496;p38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5" name="Google Shape;1497;p38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456" name="Google Shape;1499;p38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457" name="Google Shape;1500;p38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8" name="Google Shape;1501;p38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9" name="Google Shape;1502;p38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0" name="Google Shape;1503;p38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1" name="Google Shape;1504;p38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2" name="Google Shape;1505;p38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3" name="Google Shape;1506;p38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64" name="Google Shape;1507;p38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465" name="Google Shape;1508;p38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6" name="Google Shape;1509;p38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7" name="Google Shape;1510;p38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8" name="Google Shape;1511;p38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9" name="Google Shape;1512;p38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0" name="Google Shape;1513;p38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1" name="Google Shape;1514;p38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72" name="Google Shape;1515;p38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473" name="Google Shape;1516;p38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4" name="Google Shape;1517;p38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75" name="Google Shape;1518;p38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476" name="Google Shape;1519;p38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7" name="Google Shape;1520;p38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478" name="Google Shape;1521;p38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600" bIns="696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79" name="Google Shape;1522;p38"/>
          <p:cNvGrpSpPr/>
          <p:nvPr/>
        </p:nvGrpSpPr>
        <p:grpSpPr>
          <a:xfrm>
            <a:off x="1061280" y="4026240"/>
            <a:ext cx="6078720" cy="178560"/>
            <a:chOff x="795960" y="3019680"/>
            <a:chExt cx="4559040" cy="133920"/>
          </a:xfrm>
        </p:grpSpPr>
        <p:sp>
          <p:nvSpPr>
            <p:cNvPr id="1480" name="Google Shape;1523;p38"/>
            <p:cNvSpPr/>
            <p:nvPr/>
          </p:nvSpPr>
          <p:spPr>
            <a:xfrm>
              <a:off x="5221080" y="30196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481" name="Google Shape;1524;p38"/>
            <p:cNvCxnSpPr/>
            <p:nvPr/>
          </p:nvCxnSpPr>
          <p:spPr>
            <a:xfrm>
              <a:off x="795960" y="308664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482" name="Google Shape;1525;p38"/>
            <p:cNvSpPr/>
            <p:nvPr/>
          </p:nvSpPr>
          <p:spPr>
            <a:xfrm>
              <a:off x="5250960" y="30499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965280" y="144480"/>
            <a:ext cx="4190400" cy="24633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4000" b="1" spc="-1" dirty="0">
                <a:solidFill>
                  <a:schemeClr val="dk2"/>
                </a:solidFill>
                <a:latin typeface="IBM Plex Mono"/>
                <a:ea typeface="IBM Plex Mono"/>
              </a:rPr>
              <a:t>TRAINING</a:t>
            </a:r>
            <a:endParaRPr lang="fr-FR" sz="4000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4" name="PlaceHolder 2"/>
          <p:cNvSpPr>
            <a:spLocks noGrp="1"/>
          </p:cNvSpPr>
          <p:nvPr>
            <p:ph type="subTitle"/>
          </p:nvPr>
        </p:nvSpPr>
        <p:spPr>
          <a:xfrm>
            <a:off x="780752" y="2860320"/>
            <a:ext cx="4190400" cy="299664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97835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67" b="1" spc="-1" dirty="0">
                <a:solidFill>
                  <a:schemeClr val="dk1"/>
                </a:solidFill>
                <a:latin typeface="Poppins"/>
              </a:rPr>
              <a:t>CHAMELEON is trained on a vast amount of </a:t>
            </a:r>
            <a:r>
              <a:rPr lang="en-GB" sz="1867" b="1" spc="-1" dirty="0">
                <a:solidFill>
                  <a:schemeClr val="dk1"/>
                </a:solidFill>
                <a:latin typeface="Poppins"/>
              </a:rPr>
              <a:t>different harmonic levels (chord transitions, cadences and voice leading) from a data pool with ‘real-world’ representations of historical traditions of music creation.</a:t>
            </a:r>
            <a:endParaRPr lang="en-US" sz="1867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85" name="Google Shape;1843;p46"/>
          <p:cNvGrpSpPr/>
          <p:nvPr/>
        </p:nvGrpSpPr>
        <p:grpSpPr>
          <a:xfrm>
            <a:off x="-99840" y="2354880"/>
            <a:ext cx="640800" cy="640800"/>
            <a:chOff x="-74880" y="1766160"/>
            <a:chExt cx="480600" cy="480600"/>
          </a:xfrm>
        </p:grpSpPr>
        <p:sp>
          <p:nvSpPr>
            <p:cNvPr id="1486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7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160" bIns="681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8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9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0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1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2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160" bIns="681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" name="PlaceHolder 2">
            <a:extLst>
              <a:ext uri="{FF2B5EF4-FFF2-40B4-BE49-F238E27FC236}">
                <a16:creationId xmlns:a16="http://schemas.microsoft.com/office/drawing/2014/main" id="{CD30C260-B944-965F-1B92-E855C8535E6A}"/>
              </a:ext>
            </a:extLst>
          </p:cNvPr>
          <p:cNvSpPr txBox="1">
            <a:spLocks/>
          </p:cNvSpPr>
          <p:nvPr/>
        </p:nvSpPr>
        <p:spPr>
          <a:xfrm>
            <a:off x="6096000" y="649972"/>
            <a:ext cx="5774880" cy="5884589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97835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Arial"/>
              </a:rPr>
              <a:t>Modal harmonisation in the Middle Ages (11th – 14th centuries): includes subcategories of the Medieval harmonic styles of Organum and Fauxbourdon.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Arial"/>
              </a:rPr>
              <a:t>Modal harmonisation in the Renaissance (15th – 17th centuries): includes modal music from the 16th – 17th centuries along with modal chorales.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Arial"/>
              </a:rPr>
              <a:t>Tonal harmonisation (17th – 19th centuries): includes a set of Bach Chorales, the Kostka-Payne corpus (http://theory.esm.rochester.edu/temperley/kp-stats/index.html) and tonal harmonisation sets from the 18th – 19th centuries.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Arial"/>
              </a:rPr>
              <a:t>Harmonisation in National Schools (19th – 20th centuries): includes 19th – 20th century harmonisation of folk songs from Norway, Hungary and Greece.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Arial"/>
              </a:rPr>
              <a:t>Harmonisation in the 20th century: includes mainly vocal music by Cl. Debussy, P. Hindemith, E. Whitacre, I. Stravinsky, among others. Also, includes 20th-century harmonic concepts extracted from short musical excerpts.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067" dirty="0" err="1">
                <a:solidFill>
                  <a:srgbClr val="000000"/>
                </a:solidFill>
                <a:latin typeface="Helvetica" panose="020B0604020202020204" pitchFamily="34" charset="0"/>
              </a:rPr>
              <a:t>Harmonisation</a:t>
            </a:r>
            <a:r>
              <a:rPr lang="en-US" sz="1067" dirty="0">
                <a:solidFill>
                  <a:srgbClr val="000000"/>
                </a:solidFill>
                <a:latin typeface="Helvetica" panose="020B0604020202020204" pitchFamily="34" charset="0"/>
              </a:rPr>
              <a:t> in folk traditions: includes Tango (classical and nuevo styles), Epirus polyphonic songs and Rebetiko songs.</a:t>
            </a: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GB" sz="1067" dirty="0">
                <a:solidFill>
                  <a:srgbClr val="000000"/>
                </a:solidFill>
                <a:latin typeface="Helvetica" panose="020B0604020202020204" pitchFamily="34" charset="0"/>
              </a:rPr>
              <a:t>Harmonisation in 20th-century popular music and jazz: includes mainstream jazz, piano pieces by Bill Evans and a collection of songs by The Beatles.</a:t>
            </a:r>
            <a:endParaRPr lang="el-GR" sz="1067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609585" indent="-304792" defTabSz="1219170">
              <a:lnSpc>
                <a:spcPct val="100000"/>
              </a:lnSpc>
              <a:spcBef>
                <a:spcPts val="1333"/>
              </a:spcBef>
              <a:buFont typeface="+mj-lt"/>
              <a:buAutoNum type="arabicPeriod"/>
              <a:tabLst>
                <a:tab pos="0" algn="l"/>
              </a:tabLst>
            </a:pPr>
            <a:endParaRPr lang="el-GR" sz="1067" dirty="0">
              <a:solidFill>
                <a:srgbClr val="000000"/>
              </a:solidFill>
              <a:latin typeface="Arial"/>
            </a:endParaRPr>
          </a:p>
          <a:p>
            <a:pPr marL="304792" indent="0" defTabSz="1219170">
              <a:lnSpc>
                <a:spcPct val="100000"/>
              </a:lnSpc>
              <a:spcBef>
                <a:spcPts val="1333"/>
              </a:spcBef>
              <a:buNone/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hlinkClick r:id="rId2"/>
              </a:rPr>
              <a:t>https://ccm.web.auth.gr/datasetdescription.html</a:t>
            </a:r>
            <a:endParaRPr lang="el-GR" sz="14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2051-E0C9-FB39-6D3C-531A18B2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680" y="500494"/>
            <a:ext cx="10972320" cy="1195784"/>
          </a:xfrm>
        </p:spPr>
        <p:txBody>
          <a:bodyPr/>
          <a:lstStyle/>
          <a:p>
            <a:r>
              <a:rPr lang="en-GB" sz="3600" dirty="0">
                <a:solidFill>
                  <a:schemeClr val="tx2"/>
                </a:solidFill>
                <a:latin typeface="IBM Plex Mono" panose="020B0509050203000203" pitchFamily="49" charset="0"/>
              </a:rPr>
              <a:t>Statistical learning of harmonies</a:t>
            </a:r>
            <a:endParaRPr lang="en-US" sz="3600" dirty="0">
              <a:solidFill>
                <a:schemeClr val="tx2"/>
              </a:solidFill>
              <a:latin typeface="IBM Plex Mono" panose="020B0509050203000203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5A52-622B-FE62-7288-A348C3200E8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1816675"/>
            <a:ext cx="10972320" cy="3977280"/>
          </a:xfrm>
        </p:spPr>
        <p:txBody>
          <a:bodyPr/>
          <a:lstStyle/>
          <a:p>
            <a:pPr marL="0" indent="0" algn="l">
              <a:buNone/>
            </a:pPr>
            <a:r>
              <a:rPr lang="en-GB" sz="2000" dirty="0"/>
              <a:t>The harmoniser is based on a statistical learning approach (HMMs) that combines different learning modules:</a:t>
            </a:r>
          </a:p>
          <a:p>
            <a:pPr marL="918886" indent="-3429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chord types</a:t>
            </a:r>
          </a:p>
          <a:p>
            <a:pPr marL="918886" indent="-3429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chord transitions</a:t>
            </a:r>
          </a:p>
          <a:p>
            <a:pPr marL="918886" indent="-3429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cadences</a:t>
            </a:r>
          </a:p>
          <a:p>
            <a:pPr marL="918886" indent="-3429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bass line voice leading</a:t>
            </a:r>
          </a:p>
          <a:p>
            <a:pPr marL="0" indent="0" algn="l">
              <a:buNone/>
            </a:pPr>
            <a:r>
              <a:rPr lang="en-GB" sz="2000" dirty="0"/>
              <a:t>The training material comprises many diverse musical idioms, annotated by human experts.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548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765" y="135703"/>
            <a:ext cx="9725103" cy="117099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Annotated score example</a:t>
            </a:r>
            <a:endParaRPr lang="el-GR" sz="3200" b="1" dirty="0">
              <a:solidFill>
                <a:schemeClr val="tx2"/>
              </a:solidFill>
            </a:endParaRPr>
          </a:p>
        </p:txBody>
      </p:sp>
      <p:pic>
        <p:nvPicPr>
          <p:cNvPr id="5" name="Εικόνα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1"/>
          <a:stretch/>
        </p:blipFill>
        <p:spPr bwMode="auto">
          <a:xfrm>
            <a:off x="1524001" y="1600201"/>
            <a:ext cx="9144000" cy="46079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33501" y="1230869"/>
            <a:ext cx="271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 Ammo </a:t>
            </a:r>
            <a:r>
              <a:rPr lang="en-US" dirty="0" err="1"/>
              <a:t>Ammo</a:t>
            </a:r>
            <a:r>
              <a:rPr lang="en-US" dirty="0"/>
              <a:t> </a:t>
            </a:r>
            <a:r>
              <a:rPr lang="en-US" dirty="0" err="1"/>
              <a:t>Pigena</a:t>
            </a:r>
            <a:endParaRPr lang="el-GR" dirty="0"/>
          </a:p>
        </p:txBody>
      </p:sp>
      <p:pic>
        <p:nvPicPr>
          <p:cNvPr id="6" name="59 Track-Ammo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52243" y="1187967"/>
            <a:ext cx="412234" cy="4122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3F4AF3-984C-B694-6015-B8DFB3683ED8}"/>
              </a:ext>
            </a:extLst>
          </p:cNvPr>
          <p:cNvSpPr txBox="1"/>
          <p:nvPr/>
        </p:nvSpPr>
        <p:spPr>
          <a:xfrm>
            <a:off x="1671765" y="6352965"/>
            <a:ext cx="16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Explainable AI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9865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0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8566-2FD2-249D-2309-8203E762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150" y="671196"/>
            <a:ext cx="9299040" cy="985325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IBM Plex Mono" panose="020B0509050203000203" pitchFamily="49" charset="0"/>
              </a:rPr>
              <a:t>C</a:t>
            </a:r>
            <a:r>
              <a:rPr lang="en-GB" sz="3600" b="1" dirty="0" err="1">
                <a:solidFill>
                  <a:schemeClr val="tx2"/>
                </a:solidFill>
                <a:latin typeface="IBM Plex Mono" panose="020B0509050203000203" pitchFamily="49" charset="0"/>
              </a:rPr>
              <a:t>hord</a:t>
            </a:r>
            <a:r>
              <a:rPr lang="en-GB" sz="3600" b="1" dirty="0">
                <a:solidFill>
                  <a:schemeClr val="tx2"/>
                </a:solidFill>
                <a:latin typeface="IBM Plex Mono" panose="020B0509050203000203" pitchFamily="49" charset="0"/>
              </a:rPr>
              <a:t> transition spaces</a:t>
            </a:r>
            <a:endParaRPr lang="en-US" sz="3600" b="1" dirty="0">
              <a:solidFill>
                <a:schemeClr val="tx2"/>
              </a:solidFill>
              <a:latin typeface="IBM Plex Mono" panose="020B0509050203000203" pitchFamily="49" charset="0"/>
            </a:endParaRPr>
          </a:p>
        </p:txBody>
      </p:sp>
      <p:pic>
        <p:nvPicPr>
          <p:cNvPr id="3" name="Picture 2" descr="trans_BachMaj.pdf">
            <a:extLst>
              <a:ext uri="{FF2B5EF4-FFF2-40B4-BE49-F238E27FC236}">
                <a16:creationId xmlns:a16="http://schemas.microsoft.com/office/drawing/2014/main" id="{0885095D-3907-D4A5-43FD-CFC9EB82F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213" y="1850011"/>
            <a:ext cx="4559300" cy="46228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445F7-1575-1991-7057-68E0347540CE}"/>
              </a:ext>
            </a:extLst>
          </p:cNvPr>
          <p:cNvSpPr txBox="1">
            <a:spLocks/>
          </p:cNvSpPr>
          <p:nvPr/>
        </p:nvSpPr>
        <p:spPr>
          <a:xfrm>
            <a:off x="6600766" y="5701141"/>
            <a:ext cx="2763952" cy="5840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575986" indent="-431989" algn="l" defTabSz="1219170" rtl="0" eaLnBrk="1" latinLnBrk="0" hangingPunct="1">
              <a:lnSpc>
                <a:spcPct val="90000"/>
              </a:lnSpc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GB" sz="1800" dirty="0"/>
              <a:t>Pitch class based chord system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D04353A-811D-CF7A-C0FA-14FD0E6EC529}"/>
              </a:ext>
            </a:extLst>
          </p:cNvPr>
          <p:cNvSpPr txBox="1">
            <a:spLocks/>
          </p:cNvSpPr>
          <p:nvPr/>
        </p:nvSpPr>
        <p:spPr>
          <a:xfrm>
            <a:off x="6516681" y="3393061"/>
            <a:ext cx="3646705" cy="1536699"/>
          </a:xfrm>
          <a:prstGeom prst="rect">
            <a:avLst/>
          </a:prstGeom>
        </p:spPr>
        <p:txBody>
          <a:bodyPr>
            <a:normAutofit/>
          </a:bodyPr>
          <a:lstStyle>
            <a:lvl1pPr marL="575986" indent="-431989" algn="l" defTabSz="1219170" rtl="0" eaLnBrk="1" latinLnBrk="0" hangingPunct="1">
              <a:lnSpc>
                <a:spcPct val="90000"/>
              </a:lnSpc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GB" sz="2800" dirty="0"/>
              <a:t>Chord transitions are learned from data</a:t>
            </a:r>
          </a:p>
        </p:txBody>
      </p:sp>
    </p:spTree>
    <p:extLst>
      <p:ext uri="{BB962C8B-B14F-4D97-AF65-F5344CB8AC3E}">
        <p14:creationId xmlns:p14="http://schemas.microsoft.com/office/powerpoint/2010/main" val="19313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3A3F-8D80-3166-DB85-835AE9C3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>
            <a:extLst>
              <a:ext uri="{FF2B5EF4-FFF2-40B4-BE49-F238E27FC236}">
                <a16:creationId xmlns:a16="http://schemas.microsoft.com/office/drawing/2014/main" id="{FF74DCCA-9AA7-C027-90F5-5AB82BDF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80" y="1371840"/>
            <a:ext cx="2272800" cy="132048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" sz="8266" b="1" spc="-1" dirty="0">
                <a:solidFill>
                  <a:schemeClr val="dk2"/>
                </a:solidFill>
                <a:latin typeface="Poppins"/>
                <a:ea typeface="Poppins"/>
              </a:rPr>
              <a:t>03</a:t>
            </a:r>
            <a:endParaRPr lang="fr-FR" sz="8266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43" name="PlaceHolder 2">
            <a:extLst>
              <a:ext uri="{FF2B5EF4-FFF2-40B4-BE49-F238E27FC236}">
                <a16:creationId xmlns:a16="http://schemas.microsoft.com/office/drawing/2014/main" id="{0D5F35FE-66F6-8D60-CE9E-A0A1F9993C0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65280" y="4330560"/>
            <a:ext cx="7467360" cy="60912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/>
          </a:bodyPr>
          <a:lstStyle/>
          <a:p>
            <a:pPr indent="0" algn="ctr">
              <a:buNone/>
            </a:pPr>
            <a:r>
              <a:rPr lang="en-US" sz="1867" spc="-1" dirty="0">
                <a:solidFill>
                  <a:schemeClr val="dk1"/>
                </a:solidFill>
                <a:latin typeface="Poppins"/>
                <a:ea typeface="Poppins"/>
              </a:rPr>
              <a:t>The fun part</a:t>
            </a:r>
          </a:p>
        </p:txBody>
      </p:sp>
      <p:grpSp>
        <p:nvGrpSpPr>
          <p:cNvPr id="1444" name="Google Shape;1485;p38">
            <a:extLst>
              <a:ext uri="{FF2B5EF4-FFF2-40B4-BE49-F238E27FC236}">
                <a16:creationId xmlns:a16="http://schemas.microsoft.com/office/drawing/2014/main" id="{A0CA8098-39F3-7E36-6231-222EE9507656}"/>
              </a:ext>
            </a:extLst>
          </p:cNvPr>
          <p:cNvGrpSpPr/>
          <p:nvPr/>
        </p:nvGrpSpPr>
        <p:grpSpPr>
          <a:xfrm>
            <a:off x="-499200" y="4472640"/>
            <a:ext cx="5229600" cy="3959520"/>
            <a:chOff x="-374400" y="3354480"/>
            <a:chExt cx="3922200" cy="2969640"/>
          </a:xfrm>
        </p:grpSpPr>
        <p:grpSp>
          <p:nvGrpSpPr>
            <p:cNvPr id="1445" name="Google Shape;1487;p38">
              <a:extLst>
                <a:ext uri="{FF2B5EF4-FFF2-40B4-BE49-F238E27FC236}">
                  <a16:creationId xmlns:a16="http://schemas.microsoft.com/office/drawing/2014/main" id="{70F90122-2E90-7A71-B44E-298218DC5176}"/>
                </a:ext>
              </a:extLst>
            </p:cNvPr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446" name="Google Shape;1488;p38">
                <a:extLst>
                  <a:ext uri="{FF2B5EF4-FFF2-40B4-BE49-F238E27FC236}">
                    <a16:creationId xmlns:a16="http://schemas.microsoft.com/office/drawing/2014/main" id="{C5865CCF-1EA0-C6CF-4DBA-A0A7D152B323}"/>
                  </a:ext>
                </a:extLst>
              </p:cNvPr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7" name="Google Shape;1489;p38">
                <a:extLst>
                  <a:ext uri="{FF2B5EF4-FFF2-40B4-BE49-F238E27FC236}">
                    <a16:creationId xmlns:a16="http://schemas.microsoft.com/office/drawing/2014/main" id="{EA87EC32-1F88-17D6-E92D-ABA988D86F07}"/>
                  </a:ext>
                </a:extLst>
              </p:cNvPr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8" name="Google Shape;1490;p38">
                <a:extLst>
                  <a:ext uri="{FF2B5EF4-FFF2-40B4-BE49-F238E27FC236}">
                    <a16:creationId xmlns:a16="http://schemas.microsoft.com/office/drawing/2014/main" id="{0A40D18C-232B-6D4B-F799-23A556106253}"/>
                  </a:ext>
                </a:extLst>
              </p:cNvPr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449" name="PlaceHolder 3">
            <a:extLst>
              <a:ext uri="{FF2B5EF4-FFF2-40B4-BE49-F238E27FC236}">
                <a16:creationId xmlns:a16="http://schemas.microsoft.com/office/drawing/2014/main" id="{F1B79870-C585-E300-288A-E394E1A8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80" y="2768640"/>
            <a:ext cx="7467360" cy="11169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en" sz="6667" b="1" spc="-1" dirty="0">
                <a:solidFill>
                  <a:schemeClr val="dk2"/>
                </a:solidFill>
                <a:latin typeface="IBM Plex Mono"/>
                <a:ea typeface="IBM Plex Mono"/>
              </a:rPr>
              <a:t>USING CHAMELEON</a:t>
            </a:r>
            <a:endParaRPr lang="fr-FR" sz="6667" spc="-1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450" name="Google Shape;1492;p38">
            <a:extLst>
              <a:ext uri="{FF2B5EF4-FFF2-40B4-BE49-F238E27FC236}">
                <a16:creationId xmlns:a16="http://schemas.microsoft.com/office/drawing/2014/main" id="{E9630557-BED1-359F-6B9D-C14FCAB2BE7D}"/>
              </a:ext>
            </a:extLst>
          </p:cNvPr>
          <p:cNvGrpSpPr/>
          <p:nvPr/>
        </p:nvGrpSpPr>
        <p:grpSpPr>
          <a:xfrm>
            <a:off x="8650080" y="-1734720"/>
            <a:ext cx="5690400" cy="8887200"/>
            <a:chOff x="6487560" y="-1301040"/>
            <a:chExt cx="4267800" cy="6665400"/>
          </a:xfrm>
        </p:grpSpPr>
        <p:sp>
          <p:nvSpPr>
            <p:cNvPr id="1451" name="Google Shape;1493;p38">
              <a:extLst>
                <a:ext uri="{FF2B5EF4-FFF2-40B4-BE49-F238E27FC236}">
                  <a16:creationId xmlns:a16="http://schemas.microsoft.com/office/drawing/2014/main" id="{5DD7FBAB-C025-EC28-3F58-984B21D4B711}"/>
                </a:ext>
              </a:extLst>
            </p:cNvPr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2" name="Google Shape;1494;p38">
              <a:extLst>
                <a:ext uri="{FF2B5EF4-FFF2-40B4-BE49-F238E27FC236}">
                  <a16:creationId xmlns:a16="http://schemas.microsoft.com/office/drawing/2014/main" id="{3621157C-6E74-F227-F33D-01D5D8012384}"/>
                </a:ext>
              </a:extLst>
            </p:cNvPr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3" name="Google Shape;1495;p38">
              <a:extLst>
                <a:ext uri="{FF2B5EF4-FFF2-40B4-BE49-F238E27FC236}">
                  <a16:creationId xmlns:a16="http://schemas.microsoft.com/office/drawing/2014/main" id="{95F7AEEC-378D-EFCE-80F5-68D878C4E549}"/>
                </a:ext>
              </a:extLst>
            </p:cNvPr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4" name="Google Shape;1496;p38">
              <a:extLst>
                <a:ext uri="{FF2B5EF4-FFF2-40B4-BE49-F238E27FC236}">
                  <a16:creationId xmlns:a16="http://schemas.microsoft.com/office/drawing/2014/main" id="{457B64A6-1980-1031-8490-756B30E045BD}"/>
                </a:ext>
              </a:extLst>
            </p:cNvPr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5" name="Google Shape;1497;p38">
              <a:extLst>
                <a:ext uri="{FF2B5EF4-FFF2-40B4-BE49-F238E27FC236}">
                  <a16:creationId xmlns:a16="http://schemas.microsoft.com/office/drawing/2014/main" id="{B7236DFB-6E2D-311F-5DA5-EB45DD184534}"/>
                </a:ext>
              </a:extLst>
            </p:cNvPr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456" name="Google Shape;1499;p38">
              <a:extLst>
                <a:ext uri="{FF2B5EF4-FFF2-40B4-BE49-F238E27FC236}">
                  <a16:creationId xmlns:a16="http://schemas.microsoft.com/office/drawing/2014/main" id="{2A9D04FF-B102-AD0C-63F9-842C069C74B4}"/>
                </a:ext>
              </a:extLst>
            </p:cNvPr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457" name="Google Shape;1500;p38">
                <a:extLst>
                  <a:ext uri="{FF2B5EF4-FFF2-40B4-BE49-F238E27FC236}">
                    <a16:creationId xmlns:a16="http://schemas.microsoft.com/office/drawing/2014/main" id="{E5DFC71E-980E-2BAD-749B-9FA9BF22B379}"/>
                  </a:ext>
                </a:extLst>
              </p:cNvPr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8" name="Google Shape;1501;p38">
                <a:extLst>
                  <a:ext uri="{FF2B5EF4-FFF2-40B4-BE49-F238E27FC236}">
                    <a16:creationId xmlns:a16="http://schemas.microsoft.com/office/drawing/2014/main" id="{4C081DCB-8363-F23E-08A6-67B81EF97CFF}"/>
                  </a:ext>
                </a:extLst>
              </p:cNvPr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9" name="Google Shape;1502;p38">
                <a:extLst>
                  <a:ext uri="{FF2B5EF4-FFF2-40B4-BE49-F238E27FC236}">
                    <a16:creationId xmlns:a16="http://schemas.microsoft.com/office/drawing/2014/main" id="{AD57F7EB-5FD0-8801-3C68-76A46649BC39}"/>
                  </a:ext>
                </a:extLst>
              </p:cNvPr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0" name="Google Shape;1503;p38">
                <a:extLst>
                  <a:ext uri="{FF2B5EF4-FFF2-40B4-BE49-F238E27FC236}">
                    <a16:creationId xmlns:a16="http://schemas.microsoft.com/office/drawing/2014/main" id="{75755C2E-5986-F5B2-0690-420474776B6A}"/>
                  </a:ext>
                </a:extLst>
              </p:cNvPr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1" name="Google Shape;1504;p38">
                <a:extLst>
                  <a:ext uri="{FF2B5EF4-FFF2-40B4-BE49-F238E27FC236}">
                    <a16:creationId xmlns:a16="http://schemas.microsoft.com/office/drawing/2014/main" id="{DAF63F6F-3FF0-8103-A0CD-604352127FEC}"/>
                  </a:ext>
                </a:extLst>
              </p:cNvPr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2" name="Google Shape;1505;p38">
                <a:extLst>
                  <a:ext uri="{FF2B5EF4-FFF2-40B4-BE49-F238E27FC236}">
                    <a16:creationId xmlns:a16="http://schemas.microsoft.com/office/drawing/2014/main" id="{CC1CE1CE-D3D6-A835-BCBA-036E7402CE45}"/>
                  </a:ext>
                </a:extLst>
              </p:cNvPr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3" name="Google Shape;1506;p38">
                <a:extLst>
                  <a:ext uri="{FF2B5EF4-FFF2-40B4-BE49-F238E27FC236}">
                    <a16:creationId xmlns:a16="http://schemas.microsoft.com/office/drawing/2014/main" id="{81BB19C3-6707-671D-7FBF-72030503BAB6}"/>
                  </a:ext>
                </a:extLst>
              </p:cNvPr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64" name="Google Shape;1507;p38">
              <a:extLst>
                <a:ext uri="{FF2B5EF4-FFF2-40B4-BE49-F238E27FC236}">
                  <a16:creationId xmlns:a16="http://schemas.microsoft.com/office/drawing/2014/main" id="{26961B1C-7867-E0D8-B8A4-3832B4E33A57}"/>
                </a:ext>
              </a:extLst>
            </p:cNvPr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465" name="Google Shape;1508;p38">
                <a:extLst>
                  <a:ext uri="{FF2B5EF4-FFF2-40B4-BE49-F238E27FC236}">
                    <a16:creationId xmlns:a16="http://schemas.microsoft.com/office/drawing/2014/main" id="{7B336494-8582-AFBD-A35E-CA75B8A9BE10}"/>
                  </a:ext>
                </a:extLst>
              </p:cNvPr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6" name="Google Shape;1509;p38">
                <a:extLst>
                  <a:ext uri="{FF2B5EF4-FFF2-40B4-BE49-F238E27FC236}">
                    <a16:creationId xmlns:a16="http://schemas.microsoft.com/office/drawing/2014/main" id="{AB5CBE04-A3D0-E196-88AB-AAA9698A68CF}"/>
                  </a:ext>
                </a:extLst>
              </p:cNvPr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7" name="Google Shape;1510;p38">
                <a:extLst>
                  <a:ext uri="{FF2B5EF4-FFF2-40B4-BE49-F238E27FC236}">
                    <a16:creationId xmlns:a16="http://schemas.microsoft.com/office/drawing/2014/main" id="{473F98B4-3619-DF98-71A9-B95A8311A66D}"/>
                  </a:ext>
                </a:extLst>
              </p:cNvPr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8" name="Google Shape;1511;p38">
                <a:extLst>
                  <a:ext uri="{FF2B5EF4-FFF2-40B4-BE49-F238E27FC236}">
                    <a16:creationId xmlns:a16="http://schemas.microsoft.com/office/drawing/2014/main" id="{0CAE6593-1617-5004-AA8A-B1E23F8F1F55}"/>
                  </a:ext>
                </a:extLst>
              </p:cNvPr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9" name="Google Shape;1512;p38">
                <a:extLst>
                  <a:ext uri="{FF2B5EF4-FFF2-40B4-BE49-F238E27FC236}">
                    <a16:creationId xmlns:a16="http://schemas.microsoft.com/office/drawing/2014/main" id="{F29D4A8D-C549-4AEE-DFF3-57ECC84F40FD}"/>
                  </a:ext>
                </a:extLst>
              </p:cNvPr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0" name="Google Shape;1513;p38">
                <a:extLst>
                  <a:ext uri="{FF2B5EF4-FFF2-40B4-BE49-F238E27FC236}">
                    <a16:creationId xmlns:a16="http://schemas.microsoft.com/office/drawing/2014/main" id="{F3D53C74-2F1B-96E6-A1EF-E4D45E0263BF}"/>
                  </a:ext>
                </a:extLst>
              </p:cNvPr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1" name="Google Shape;1514;p38">
                <a:extLst>
                  <a:ext uri="{FF2B5EF4-FFF2-40B4-BE49-F238E27FC236}">
                    <a16:creationId xmlns:a16="http://schemas.microsoft.com/office/drawing/2014/main" id="{3C18990C-C3DB-8512-9798-A9D74125551D}"/>
                  </a:ext>
                </a:extLst>
              </p:cNvPr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7520" bIns="1075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72" name="Google Shape;1515;p38">
              <a:extLst>
                <a:ext uri="{FF2B5EF4-FFF2-40B4-BE49-F238E27FC236}">
                  <a16:creationId xmlns:a16="http://schemas.microsoft.com/office/drawing/2014/main" id="{8A28125D-31E0-9F9F-89E5-47EA78BE1B96}"/>
                </a:ext>
              </a:extLst>
            </p:cNvPr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473" name="Google Shape;1516;p38">
                <a:extLst>
                  <a:ext uri="{FF2B5EF4-FFF2-40B4-BE49-F238E27FC236}">
                    <a16:creationId xmlns:a16="http://schemas.microsoft.com/office/drawing/2014/main" id="{422A7C47-C322-8C13-9434-42F2E7B619F0}"/>
                  </a:ext>
                </a:extLst>
              </p:cNvPr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4" name="Google Shape;1517;p38">
                <a:extLst>
                  <a:ext uri="{FF2B5EF4-FFF2-40B4-BE49-F238E27FC236}">
                    <a16:creationId xmlns:a16="http://schemas.microsoft.com/office/drawing/2014/main" id="{A808842A-DDF7-1916-08B2-CC877E2873E6}"/>
                  </a:ext>
                </a:extLst>
              </p:cNvPr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75" name="Google Shape;1518;p38">
              <a:extLst>
                <a:ext uri="{FF2B5EF4-FFF2-40B4-BE49-F238E27FC236}">
                  <a16:creationId xmlns:a16="http://schemas.microsoft.com/office/drawing/2014/main" id="{629B98F4-A4F2-67AE-E442-5F70B998890E}"/>
                </a:ext>
              </a:extLst>
            </p:cNvPr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476" name="Google Shape;1519;p38">
                <a:extLst>
                  <a:ext uri="{FF2B5EF4-FFF2-40B4-BE49-F238E27FC236}">
                    <a16:creationId xmlns:a16="http://schemas.microsoft.com/office/drawing/2014/main" id="{01AC18DA-C5FD-2ED4-EE7F-9859F70F7050}"/>
                  </a:ext>
                </a:extLst>
              </p:cNvPr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920" bIns="97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7" name="Google Shape;1520;p38">
                <a:extLst>
                  <a:ext uri="{FF2B5EF4-FFF2-40B4-BE49-F238E27FC236}">
                    <a16:creationId xmlns:a16="http://schemas.microsoft.com/office/drawing/2014/main" id="{72017FC9-89E1-7EC9-8619-E40187094FFF}"/>
                  </a:ext>
                </a:extLst>
              </p:cNvPr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478" name="Google Shape;1521;p38">
              <a:extLst>
                <a:ext uri="{FF2B5EF4-FFF2-40B4-BE49-F238E27FC236}">
                  <a16:creationId xmlns:a16="http://schemas.microsoft.com/office/drawing/2014/main" id="{DD9D2789-94C4-10CB-0FC1-640E33332FF3}"/>
                </a:ext>
              </a:extLst>
            </p:cNvPr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600" bIns="696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79" name="Google Shape;1522;p38">
            <a:extLst>
              <a:ext uri="{FF2B5EF4-FFF2-40B4-BE49-F238E27FC236}">
                <a16:creationId xmlns:a16="http://schemas.microsoft.com/office/drawing/2014/main" id="{71E3B38A-16C2-F0AF-7F7F-0262C88A3ECC}"/>
              </a:ext>
            </a:extLst>
          </p:cNvPr>
          <p:cNvGrpSpPr/>
          <p:nvPr/>
        </p:nvGrpSpPr>
        <p:grpSpPr>
          <a:xfrm>
            <a:off x="1061280" y="4026240"/>
            <a:ext cx="6078720" cy="178560"/>
            <a:chOff x="795960" y="3019680"/>
            <a:chExt cx="4559040" cy="133920"/>
          </a:xfrm>
        </p:grpSpPr>
        <p:sp>
          <p:nvSpPr>
            <p:cNvPr id="1480" name="Google Shape;1523;p38">
              <a:extLst>
                <a:ext uri="{FF2B5EF4-FFF2-40B4-BE49-F238E27FC236}">
                  <a16:creationId xmlns:a16="http://schemas.microsoft.com/office/drawing/2014/main" id="{005D7FEF-B8E2-D6B5-E068-35982DBCB629}"/>
                </a:ext>
              </a:extLst>
            </p:cNvPr>
            <p:cNvSpPr/>
            <p:nvPr/>
          </p:nvSpPr>
          <p:spPr>
            <a:xfrm>
              <a:off x="5221080" y="30196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481" name="Google Shape;1524;p38">
              <a:extLst>
                <a:ext uri="{FF2B5EF4-FFF2-40B4-BE49-F238E27FC236}">
                  <a16:creationId xmlns:a16="http://schemas.microsoft.com/office/drawing/2014/main" id="{55894A6D-D91E-6903-889C-51CD85BCB3ED}"/>
                </a:ext>
              </a:extLst>
            </p:cNvPr>
            <p:cNvCxnSpPr/>
            <p:nvPr/>
          </p:nvCxnSpPr>
          <p:spPr>
            <a:xfrm>
              <a:off x="795960" y="308664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482" name="Google Shape;1525;p38">
              <a:extLst>
                <a:ext uri="{FF2B5EF4-FFF2-40B4-BE49-F238E27FC236}">
                  <a16:creationId xmlns:a16="http://schemas.microsoft.com/office/drawing/2014/main" id="{38D7501F-356E-72B8-0536-928C43FB706E}"/>
                </a:ext>
              </a:extLst>
            </p:cNvPr>
            <p:cNvSpPr/>
            <p:nvPr/>
          </p:nvSpPr>
          <p:spPr>
            <a:xfrm>
              <a:off x="5250960" y="30499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52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551E-BF5D-3C68-9BBD-220085CA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480" y="823596"/>
            <a:ext cx="9299040" cy="978699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IBM Plex Mono" panose="020B0509050203000203" pitchFamily="49" charset="0"/>
              </a:rPr>
              <a:t>Using Chameleon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FCB30-CB9F-1AE0-4764-BC618C970F5E}"/>
              </a:ext>
            </a:extLst>
          </p:cNvPr>
          <p:cNvSpPr txBox="1"/>
          <p:nvPr/>
        </p:nvSpPr>
        <p:spPr>
          <a:xfrm>
            <a:off x="1425931" y="2134580"/>
            <a:ext cx="9041294" cy="355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Harmonic blending, as performed by CHAMELEON, involves two different processes: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melody-harmony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blending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, whereby a melody originating from a given musical idiom (with certain implied harmonic qualities) is harmonized based on a harmonic space (chord types, chord transitions, cadences, basic voice-leading) derived via machine learning from a different harmonic idiom.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harmony-harmony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 blending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whereby the harmonic space that is used to harmonize a given melody is, itself, the product of blending between two different harmonic idioms.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In this paper we use both processes, whereby an annotated melody is presented to the system to be harmonized in different single or blended harmonic styles </a:t>
            </a:r>
          </a:p>
        </p:txBody>
      </p:sp>
    </p:spTree>
    <p:extLst>
      <p:ext uri="{BB962C8B-B14F-4D97-AF65-F5344CB8AC3E}">
        <p14:creationId xmlns:p14="http://schemas.microsoft.com/office/powerpoint/2010/main" val="88299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56BB-DDEA-67C7-4E7A-7311EB23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>
            <a:extLst>
              <a:ext uri="{FF2B5EF4-FFF2-40B4-BE49-F238E27FC236}">
                <a16:creationId xmlns:a16="http://schemas.microsoft.com/office/drawing/2014/main" id="{96B24D35-1A11-A993-48F8-232381FF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60" y="-528852"/>
            <a:ext cx="5517643" cy="246336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1" spc="-1" dirty="0">
                <a:solidFill>
                  <a:schemeClr val="dk2"/>
                </a:solidFill>
                <a:latin typeface="IBM Plex Mono"/>
                <a:ea typeface="IBM Plex Mono"/>
              </a:rPr>
              <a:t>CHAMELEON WORKS BACKWARDS</a:t>
            </a:r>
            <a:endParaRPr lang="fr-FR" sz="3600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4" name="PlaceHolder 2">
            <a:extLst>
              <a:ext uri="{FF2B5EF4-FFF2-40B4-BE49-F238E27FC236}">
                <a16:creationId xmlns:a16="http://schemas.microsoft.com/office/drawing/2014/main" id="{4FEF6753-199B-4F0D-4FC3-1BDF45DB5AE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-32160" y="3158532"/>
            <a:ext cx="4190400" cy="299664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97835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67" b="1" spc="-1" dirty="0">
                <a:solidFill>
                  <a:schemeClr val="dk1"/>
                </a:solidFill>
                <a:latin typeface="Poppins"/>
                <a:ea typeface="Poppins"/>
              </a:rPr>
              <a:t>Start from the cadenzas.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867" b="1" spc="-1" dirty="0">
              <a:solidFill>
                <a:schemeClr val="dk1"/>
              </a:solidFill>
              <a:latin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67" b="1" spc="-1" dirty="0">
                <a:solidFill>
                  <a:schemeClr val="dk1"/>
                </a:solidFill>
                <a:latin typeface="Poppins"/>
              </a:rPr>
              <a:t>Firstly the model harmonizes the phrase endings.</a:t>
            </a:r>
            <a:endParaRPr lang="en-US" sz="1867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85" name="Google Shape;1843;p46">
            <a:extLst>
              <a:ext uri="{FF2B5EF4-FFF2-40B4-BE49-F238E27FC236}">
                <a16:creationId xmlns:a16="http://schemas.microsoft.com/office/drawing/2014/main" id="{1EB6B441-AE10-C65B-0EF0-14BE3D8AC58E}"/>
              </a:ext>
            </a:extLst>
          </p:cNvPr>
          <p:cNvGrpSpPr/>
          <p:nvPr/>
        </p:nvGrpSpPr>
        <p:grpSpPr>
          <a:xfrm>
            <a:off x="-99840" y="2354880"/>
            <a:ext cx="640800" cy="640800"/>
            <a:chOff x="-74880" y="1766160"/>
            <a:chExt cx="480600" cy="480600"/>
          </a:xfrm>
        </p:grpSpPr>
        <p:sp>
          <p:nvSpPr>
            <p:cNvPr id="1486" name="Google Shape;1844;p46">
              <a:extLst>
                <a:ext uri="{FF2B5EF4-FFF2-40B4-BE49-F238E27FC236}">
                  <a16:creationId xmlns:a16="http://schemas.microsoft.com/office/drawing/2014/main" id="{59653398-2F24-4EB3-B6CA-208CCF13BA5D}"/>
                </a:ext>
              </a:extLst>
            </p:cNvPr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7" name="Google Shape;1845;p46">
              <a:extLst>
                <a:ext uri="{FF2B5EF4-FFF2-40B4-BE49-F238E27FC236}">
                  <a16:creationId xmlns:a16="http://schemas.microsoft.com/office/drawing/2014/main" id="{FBBE5B01-569D-1B39-26BE-19C4D1612D0D}"/>
                </a:ext>
              </a:extLst>
            </p:cNvPr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160" bIns="681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8" name="Google Shape;1846;p46">
              <a:extLst>
                <a:ext uri="{FF2B5EF4-FFF2-40B4-BE49-F238E27FC236}">
                  <a16:creationId xmlns:a16="http://schemas.microsoft.com/office/drawing/2014/main" id="{D15EFAD4-D385-859A-6EDB-2585B60777CE}"/>
                </a:ext>
              </a:extLst>
            </p:cNvPr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9" name="Google Shape;1847;p46">
              <a:extLst>
                <a:ext uri="{FF2B5EF4-FFF2-40B4-BE49-F238E27FC236}">
                  <a16:creationId xmlns:a16="http://schemas.microsoft.com/office/drawing/2014/main" id="{29E358E0-639E-BF29-C95C-233D26767CD6}"/>
                </a:ext>
              </a:extLst>
            </p:cNvPr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0" name="Google Shape;1848;p46">
              <a:extLst>
                <a:ext uri="{FF2B5EF4-FFF2-40B4-BE49-F238E27FC236}">
                  <a16:creationId xmlns:a16="http://schemas.microsoft.com/office/drawing/2014/main" id="{7B72469A-5BED-A3E1-F265-EF77B4808395}"/>
                </a:ext>
              </a:extLst>
            </p:cNvPr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1" name="Google Shape;1849;p46">
              <a:extLst>
                <a:ext uri="{FF2B5EF4-FFF2-40B4-BE49-F238E27FC236}">
                  <a16:creationId xmlns:a16="http://schemas.microsoft.com/office/drawing/2014/main" id="{11B17DB6-6FA1-5F0B-B525-82DDED56F0F4}"/>
                </a:ext>
              </a:extLst>
            </p:cNvPr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2" name="Google Shape;1850;p46">
              <a:extLst>
                <a:ext uri="{FF2B5EF4-FFF2-40B4-BE49-F238E27FC236}">
                  <a16:creationId xmlns:a16="http://schemas.microsoft.com/office/drawing/2014/main" id="{E1A3A41B-96EC-2010-CCCF-8940F1AEEB9E}"/>
                </a:ext>
              </a:extLst>
            </p:cNvPr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160" bIns="6816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3" name="Picture 2" descr="A sheet of music with red arrows&#10;&#10;AI-generated content may be incorrect.">
            <a:extLst>
              <a:ext uri="{FF2B5EF4-FFF2-40B4-BE49-F238E27FC236}">
                <a16:creationId xmlns:a16="http://schemas.microsoft.com/office/drawing/2014/main" id="{1B34372C-E8CB-C732-ABBD-BE431F9BA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405" y="1435926"/>
            <a:ext cx="8075955" cy="398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5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2732-41D2-B2F9-FFBF-13122427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480" y="909736"/>
            <a:ext cx="9299040" cy="70703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IBM Plex Mono" panose="020B0509050203000203" pitchFamily="49" charset="0"/>
              </a:rPr>
              <a:t>Polyphonic Epirus song (PE)</a:t>
            </a:r>
          </a:p>
        </p:txBody>
      </p:sp>
      <p:pic>
        <p:nvPicPr>
          <p:cNvPr id="3" name="Εικόνα 8">
            <a:extLst>
              <a:ext uri="{FF2B5EF4-FFF2-40B4-BE49-F238E27FC236}">
                <a16:creationId xmlns:a16="http://schemas.microsoft.com/office/drawing/2014/main" id="{1A459FDA-18B6-F1F0-DFF8-552E07276D56}"/>
              </a:ext>
            </a:extLst>
          </p:cNvPr>
          <p:cNvPicPr>
            <a:picLocks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56" y="2286422"/>
            <a:ext cx="7992888" cy="2882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68EBE-FD13-C5AB-7D05-5FA29AF3BCFC}"/>
              </a:ext>
            </a:extLst>
          </p:cNvPr>
          <p:cNvSpPr txBox="1"/>
          <p:nvPr/>
        </p:nvSpPr>
        <p:spPr>
          <a:xfrm>
            <a:off x="1522444" y="5578316"/>
            <a:ext cx="7668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latin typeface="Calibri" panose="020F0502020204030204" pitchFamily="34" charset="0"/>
              </a:rPr>
              <a:t>Melody of </a:t>
            </a:r>
            <a:r>
              <a:rPr lang="en-US" b="0" i="1" dirty="0">
                <a:latin typeface="Calibri" panose="020F0502020204030204" pitchFamily="34" charset="0"/>
              </a:rPr>
              <a:t>Tin Ammo Ammo </a:t>
            </a:r>
            <a:r>
              <a:rPr lang="en-US" b="0" i="1" dirty="0" err="1">
                <a:latin typeface="Calibri" panose="020F0502020204030204" pitchFamily="34" charset="0"/>
              </a:rPr>
              <a:t>Pigena</a:t>
            </a:r>
            <a:r>
              <a:rPr lang="en-US" b="0" i="1" dirty="0">
                <a:latin typeface="Calibri" panose="020F0502020204030204" pitchFamily="34" charset="0"/>
              </a:rPr>
              <a:t> </a:t>
            </a:r>
            <a:r>
              <a:rPr lang="en-US" b="0" i="0" dirty="0">
                <a:latin typeface="Calibri" panose="020F0502020204030204" pitchFamily="34" charset="0"/>
              </a:rPr>
              <a:t>polyphonic song from Epirus </a:t>
            </a:r>
            <a:r>
              <a:rPr lang="en-US" b="0" i="0" dirty="0" err="1">
                <a:latin typeface="Calibri" panose="020F0502020204030204" pitchFamily="34" charset="0"/>
              </a:rPr>
              <a:t>harmonised</a:t>
            </a:r>
            <a:r>
              <a:rPr lang="en-US" b="0" i="0" dirty="0">
                <a:latin typeface="Calibri" panose="020F0502020204030204" pitchFamily="34" charset="0"/>
              </a:rPr>
              <a:t> by the </a:t>
            </a:r>
            <a:r>
              <a:rPr lang="en-US" b="0" i="0" dirty="0" err="1">
                <a:latin typeface="Calibri" panose="020F0502020204030204" pitchFamily="34" charset="0"/>
              </a:rPr>
              <a:t>cHMM</a:t>
            </a:r>
            <a:r>
              <a:rPr lang="en-US" b="0" i="0" dirty="0">
                <a:latin typeface="Calibri" panose="020F0502020204030204" pitchFamily="34" charset="0"/>
              </a:rPr>
              <a:t> model </a:t>
            </a:r>
            <a:endParaRPr lang="el-GR" b="0" i="0" dirty="0">
              <a:latin typeface="Calibri" panose="020F0502020204030204" pitchFamily="34" charset="0"/>
            </a:endParaRPr>
          </a:p>
        </p:txBody>
      </p:sp>
      <p:pic>
        <p:nvPicPr>
          <p:cNvPr id="5" name="ammo-piano-EC.WAV">
            <a:hlinkClick r:id="" action="ppaction://media"/>
            <a:extLst>
              <a:ext uri="{FF2B5EF4-FFF2-40B4-BE49-F238E27FC236}">
                <a16:creationId xmlns:a16="http://schemas.microsoft.com/office/drawing/2014/main" id="{2E754BC7-5AC6-E33A-256A-3A650EE483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76952" y="1616766"/>
            <a:ext cx="397154" cy="39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A7CFD7D-7EDA-5A8B-408D-21B592D6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799" y="461317"/>
            <a:ext cx="9521688" cy="421046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tx2"/>
                </a:solidFill>
                <a:latin typeface="IBM Plex Mono" panose="020B0509050203000203" pitchFamily="49" charset="0"/>
              </a:rPr>
              <a:t>Blending chord transition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C989-D0EB-5A1B-601A-9D196F67DC90}"/>
              </a:ext>
            </a:extLst>
          </p:cNvPr>
          <p:cNvSpPr txBox="1"/>
          <p:nvPr/>
        </p:nvSpPr>
        <p:spPr>
          <a:xfrm>
            <a:off x="1802296" y="971083"/>
            <a:ext cx="10310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 dirty="0"/>
              <a:t>User selects </a:t>
            </a:r>
            <a:r>
              <a:rPr lang="en-GB" sz="2400" dirty="0">
                <a:solidFill>
                  <a:srgbClr val="00A8A0"/>
                </a:solidFill>
              </a:rPr>
              <a:t>two idioms </a:t>
            </a:r>
            <a:r>
              <a:rPr lang="en-GB" sz="2400" dirty="0"/>
              <a:t>from a list.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System automatically </a:t>
            </a:r>
            <a:r>
              <a:rPr lang="en-GB" sz="2400" dirty="0">
                <a:solidFill>
                  <a:srgbClr val="00A8A0"/>
                </a:solidFill>
              </a:rPr>
              <a:t>blends </a:t>
            </a:r>
            <a:r>
              <a:rPr lang="en-GB" sz="2400" dirty="0"/>
              <a:t>the most common transitions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The ‘best’ resulting blends are integrated in a </a:t>
            </a:r>
            <a:r>
              <a:rPr lang="en-GB" sz="2400" dirty="0">
                <a:solidFill>
                  <a:srgbClr val="00A8A0"/>
                </a:solidFill>
              </a:rPr>
              <a:t>compound matrix</a:t>
            </a:r>
            <a:r>
              <a:rPr lang="en-GB" sz="24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5" name="Picture 4" descr="cfs_example.png">
            <a:extLst>
              <a:ext uri="{FF2B5EF4-FFF2-40B4-BE49-F238E27FC236}">
                <a16:creationId xmlns:a16="http://schemas.microsoft.com/office/drawing/2014/main" id="{91C4127E-AA1F-FF0C-CA4C-13FCD86533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17" b="12020"/>
          <a:stretch/>
        </p:blipFill>
        <p:spPr>
          <a:xfrm>
            <a:off x="2805479" y="2260131"/>
            <a:ext cx="2942416" cy="28235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5A7859A-5BF5-D60E-92F8-6E64779699D1}"/>
              </a:ext>
            </a:extLst>
          </p:cNvPr>
          <p:cNvGrpSpPr/>
          <p:nvPr/>
        </p:nvGrpSpPr>
        <p:grpSpPr>
          <a:xfrm>
            <a:off x="2210401" y="5393983"/>
            <a:ext cx="7771197" cy="1200329"/>
            <a:chOff x="638161" y="5488806"/>
            <a:chExt cx="8081191" cy="1369194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0D1D91E5-8A6A-959B-2145-2A49E6302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608" y="5488806"/>
              <a:ext cx="7751744" cy="1369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2_giannos_cfs_low.mp3">
              <a:hlinkClick r:id="" action="ppaction://media"/>
              <a:extLst>
                <a:ext uri="{FF2B5EF4-FFF2-40B4-BE49-F238E27FC236}">
                  <a16:creationId xmlns:a16="http://schemas.microsoft.com/office/drawing/2014/main" id="{AB1A382F-713C-BAD5-46A1-49CE71DF398C}"/>
                </a:ext>
              </a:extLst>
            </p:cNvPr>
            <p:cNvPicPr>
              <a:picLocks noChangeAspect="1"/>
            </p:cNvPicPr>
            <p:nvPr>
              <a:audi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38161" y="5846146"/>
              <a:ext cx="343200" cy="343200"/>
            </a:xfrm>
            <a:prstGeom prst="rect">
              <a:avLst/>
            </a:prstGeom>
          </p:spPr>
        </p:pic>
      </p:grpSp>
      <p:pic>
        <p:nvPicPr>
          <p:cNvPr id="9" name="Picture 8" descr="cfs_example.png">
            <a:extLst>
              <a:ext uri="{FF2B5EF4-FFF2-40B4-BE49-F238E27FC236}">
                <a16:creationId xmlns:a16="http://schemas.microsoft.com/office/drawing/2014/main" id="{1A7C8A4E-F875-0CD7-4E40-A84B2DF555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37" r="-213" b="12020"/>
          <a:stretch/>
        </p:blipFill>
        <p:spPr>
          <a:xfrm>
            <a:off x="6533321" y="2260132"/>
            <a:ext cx="3007998" cy="28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9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7317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3E955F-4570-685C-0E4C-194D8407F865}"/>
              </a:ext>
            </a:extLst>
          </p:cNvPr>
          <p:cNvSpPr txBox="1">
            <a:spLocks/>
          </p:cNvSpPr>
          <p:nvPr/>
        </p:nvSpPr>
        <p:spPr>
          <a:xfrm>
            <a:off x="1596886" y="504082"/>
            <a:ext cx="9428921" cy="13113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2"/>
                </a:solidFill>
                <a:latin typeface="IBM Plex Mono" panose="020B0509050203000203" pitchFamily="49" charset="0"/>
              </a:rPr>
              <a:t>Harmony-Harmony Blending:</a:t>
            </a:r>
            <a:br>
              <a:rPr lang="en-US" sz="3200" b="1" dirty="0">
                <a:solidFill>
                  <a:schemeClr val="tx2"/>
                </a:solidFill>
                <a:latin typeface="IBM Plex Mono" panose="020B0509050203000203" pitchFamily="49" charset="0"/>
              </a:rPr>
            </a:br>
            <a:r>
              <a:rPr lang="en-US" sz="3200" dirty="0">
                <a:solidFill>
                  <a:schemeClr val="tx2"/>
                </a:solidFill>
                <a:latin typeface="IBM Plex Mono" panose="020B0509050203000203" pitchFamily="49" charset="0"/>
              </a:rPr>
              <a:t>Harmonization by Blending Harmonic Spaces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F06C8-1DB8-69A5-ADDE-F1B0F8F31A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5343" y="3314005"/>
            <a:ext cx="7536862" cy="1517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C29A34-EB81-E06C-1515-7D36240F92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5343" y="1742589"/>
            <a:ext cx="7536862" cy="1379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E93BCF-75E9-21C1-6B0D-9BC5ECC9C5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343" y="5036579"/>
            <a:ext cx="7536862" cy="1508361"/>
          </a:xfrm>
          <a:prstGeom prst="rect">
            <a:avLst/>
          </a:prstGeom>
        </p:spPr>
      </p:pic>
      <p:pic>
        <p:nvPicPr>
          <p:cNvPr id="7" name="4_OdeToJoy_BC.mp3">
            <a:hlinkClick r:id="" action="ppaction://media"/>
            <a:extLst>
              <a:ext uri="{FF2B5EF4-FFF2-40B4-BE49-F238E27FC236}">
                <a16:creationId xmlns:a16="http://schemas.microsoft.com/office/drawing/2014/main" id="{F5A08586-DBD6-CB92-5601-5B24EB215A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193525" y="2187598"/>
            <a:ext cx="313864" cy="313864"/>
          </a:xfrm>
          <a:prstGeom prst="rect">
            <a:avLst/>
          </a:prstGeom>
        </p:spPr>
      </p:pic>
      <p:pic>
        <p:nvPicPr>
          <p:cNvPr id="8" name="4_OdeToJoy_JA.mp3">
            <a:hlinkClick r:id="" action="ppaction://media"/>
            <a:extLst>
              <a:ext uri="{FF2B5EF4-FFF2-40B4-BE49-F238E27FC236}">
                <a16:creationId xmlns:a16="http://schemas.microsoft.com/office/drawing/2014/main" id="{59C90D12-7C37-8F6A-B229-1B0EB2C9340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193525" y="3724969"/>
            <a:ext cx="313864" cy="313864"/>
          </a:xfrm>
          <a:prstGeom prst="rect">
            <a:avLst/>
          </a:prstGeom>
        </p:spPr>
      </p:pic>
      <p:pic>
        <p:nvPicPr>
          <p:cNvPr id="9" name="4_OdeToJoy_BC-JA_blend.mp3">
            <a:hlinkClick r:id="" action="ppaction://media"/>
            <a:extLst>
              <a:ext uri="{FF2B5EF4-FFF2-40B4-BE49-F238E27FC236}">
                <a16:creationId xmlns:a16="http://schemas.microsoft.com/office/drawing/2014/main" id="{2A48AD0A-1F99-4627-6492-E6095F7C17F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193525" y="5462864"/>
            <a:ext cx="313864" cy="3138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60262B-17F6-0A66-B20F-F6EA389889C4}"/>
              </a:ext>
            </a:extLst>
          </p:cNvPr>
          <p:cNvSpPr txBox="1"/>
          <p:nvPr/>
        </p:nvSpPr>
        <p:spPr>
          <a:xfrm>
            <a:off x="381529" y="2007508"/>
            <a:ext cx="2533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L.v.</a:t>
            </a:r>
            <a:r>
              <a:rPr lang="en-US" dirty="0"/>
              <a:t> Beethoven's "</a:t>
            </a:r>
            <a:r>
              <a:rPr lang="en-US" b="1" dirty="0"/>
              <a:t>Ode to joy</a:t>
            </a:r>
            <a:r>
              <a:rPr lang="en-US" dirty="0"/>
              <a:t>" with three </a:t>
            </a:r>
            <a:r>
              <a:rPr lang="en-US" dirty="0" err="1"/>
              <a:t>harmonisations</a:t>
            </a:r>
            <a:r>
              <a:rPr lang="en-US" dirty="0"/>
              <a:t>: </a:t>
            </a:r>
          </a:p>
          <a:p>
            <a:r>
              <a:rPr lang="en-US" dirty="0"/>
              <a:t>BC major (Bach chorale), JA major (Jazz), Blend of BC major/JA major</a:t>
            </a:r>
          </a:p>
        </p:txBody>
      </p:sp>
    </p:spTree>
    <p:extLst>
      <p:ext uri="{BB962C8B-B14F-4D97-AF65-F5344CB8AC3E}">
        <p14:creationId xmlns:p14="http://schemas.microsoft.com/office/powerpoint/2010/main" val="390850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006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006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CA3D-8912-8FD1-D1CE-E2B728F4FEAC}"/>
              </a:ext>
            </a:extLst>
          </p:cNvPr>
          <p:cNvSpPr txBox="1">
            <a:spLocks/>
          </p:cNvSpPr>
          <p:nvPr/>
        </p:nvSpPr>
        <p:spPr>
          <a:xfrm>
            <a:off x="1139687" y="792955"/>
            <a:ext cx="2710070" cy="540371"/>
          </a:xfrm>
          <a:prstGeom prst="rect">
            <a:avLst/>
          </a:prstGeom>
        </p:spPr>
        <p:txBody>
          <a:bodyPr>
            <a:normAutofit/>
          </a:bodyPr>
          <a:lstStyle>
            <a:lvl1pPr indent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2"/>
                </a:solidFill>
                <a:latin typeface="IBM Plex Mono" panose="020B0509050203000203" pitchFamily="49" charset="0"/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5580-A63B-C38E-232E-0E2F7155587E}"/>
              </a:ext>
            </a:extLst>
          </p:cNvPr>
          <p:cNvSpPr txBox="1">
            <a:spLocks/>
          </p:cNvSpPr>
          <p:nvPr/>
        </p:nvSpPr>
        <p:spPr>
          <a:xfrm>
            <a:off x="1033669" y="1626704"/>
            <a:ext cx="8229600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575986" indent="-431989" algn="l" defTabSz="1219170" rtl="0" eaLnBrk="1" latinLnBrk="0" hangingPunct="1">
              <a:lnSpc>
                <a:spcPct val="90000"/>
              </a:lnSpc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l-GR" sz="2400" dirty="0"/>
              <a:t>CHAMELEON </a:t>
            </a:r>
            <a:r>
              <a:rPr lang="el-GR" sz="2400" dirty="0" err="1"/>
              <a:t>aids</a:t>
            </a:r>
            <a:r>
              <a:rPr lang="el-GR" sz="2400" dirty="0"/>
              <a:t> </a:t>
            </a:r>
            <a:r>
              <a:rPr lang="el-GR" sz="2400" dirty="0" err="1"/>
              <a:t>composers</a:t>
            </a:r>
            <a:r>
              <a:rPr lang="el-GR" sz="2400" dirty="0"/>
              <a:t> </a:t>
            </a:r>
            <a:r>
              <a:rPr lang="el-GR" sz="2400" dirty="0" err="1"/>
              <a:t>at</a:t>
            </a:r>
            <a:r>
              <a:rPr lang="el-GR" sz="2400" dirty="0"/>
              <a:t> </a:t>
            </a:r>
            <a:r>
              <a:rPr lang="el-GR" sz="2400" dirty="0" err="1"/>
              <a:t>one</a:t>
            </a:r>
            <a:r>
              <a:rPr lang="el-GR" sz="2400" dirty="0"/>
              <a:t> of the </a:t>
            </a:r>
            <a:r>
              <a:rPr lang="el-GR" sz="2400" dirty="0" err="1"/>
              <a:t>most</a:t>
            </a:r>
            <a:r>
              <a:rPr lang="el-GR" sz="2400" dirty="0"/>
              <a:t> </a:t>
            </a:r>
            <a:r>
              <a:rPr lang="el-GR" sz="2400" dirty="0" err="1"/>
              <a:t>important</a:t>
            </a:r>
            <a:r>
              <a:rPr lang="el-GR" sz="2400" dirty="0"/>
              <a:t> </a:t>
            </a:r>
            <a:r>
              <a:rPr lang="el-GR" sz="2400" dirty="0" err="1"/>
              <a:t>stages</a:t>
            </a:r>
            <a:r>
              <a:rPr lang="el-GR" sz="2400" dirty="0"/>
              <a:t> of </a:t>
            </a:r>
            <a:r>
              <a:rPr lang="el-GR" sz="2400" dirty="0" err="1"/>
              <a:t>composition</a:t>
            </a:r>
            <a:r>
              <a:rPr lang="el-GR" sz="2400" dirty="0"/>
              <a:t>, the </a:t>
            </a:r>
            <a:r>
              <a:rPr lang="el-GR" sz="2400" dirty="0" err="1"/>
              <a:t>choice</a:t>
            </a:r>
            <a:r>
              <a:rPr lang="el-GR" sz="2400" dirty="0"/>
              <a:t> of </a:t>
            </a:r>
            <a:r>
              <a:rPr lang="el-GR" sz="2400" dirty="0" err="1"/>
              <a:t>pitch</a:t>
            </a:r>
            <a:r>
              <a:rPr lang="el-GR" sz="2400" dirty="0"/>
              <a:t> </a:t>
            </a:r>
            <a:r>
              <a:rPr lang="el-GR" sz="2400" dirty="0" err="1"/>
              <a:t>material</a:t>
            </a:r>
            <a:r>
              <a:rPr lang="el-GR" sz="2400" dirty="0"/>
              <a:t> and the </a:t>
            </a:r>
            <a:r>
              <a:rPr lang="el-GR" sz="2400" dirty="0" err="1"/>
              <a:t>creation</a:t>
            </a:r>
            <a:r>
              <a:rPr lang="el-GR" sz="2400" dirty="0"/>
              <a:t> of the </a:t>
            </a:r>
            <a:r>
              <a:rPr lang="el-GR" sz="2400" dirty="0" err="1"/>
              <a:t>harmonic</a:t>
            </a:r>
            <a:r>
              <a:rPr lang="el-GR" sz="2400" dirty="0"/>
              <a:t> </a:t>
            </a:r>
            <a:r>
              <a:rPr lang="el-GR" sz="2400" dirty="0" err="1"/>
              <a:t>background</a:t>
            </a:r>
            <a:r>
              <a:rPr lang="el-GR" sz="2400" dirty="0"/>
              <a:t>, </a:t>
            </a:r>
            <a:r>
              <a:rPr lang="el-GR" sz="2400" dirty="0" err="1"/>
              <a:t>by</a:t>
            </a:r>
            <a:r>
              <a:rPr lang="el-GR" sz="2400" dirty="0"/>
              <a:t> </a:t>
            </a:r>
            <a:r>
              <a:rPr lang="el-GR" sz="2400" dirty="0" err="1"/>
              <a:t>providing</a:t>
            </a:r>
            <a:r>
              <a:rPr lang="el-GR" sz="2400" dirty="0"/>
              <a:t> </a:t>
            </a:r>
            <a:r>
              <a:rPr lang="en-US" sz="2400" dirty="0"/>
              <a:t>a </a:t>
            </a:r>
            <a:r>
              <a:rPr lang="el-GR" sz="2400" dirty="0" err="1"/>
              <a:t>computational</a:t>
            </a:r>
            <a:r>
              <a:rPr lang="el-GR" sz="2400" dirty="0"/>
              <a:t> </a:t>
            </a:r>
            <a:r>
              <a:rPr lang="el-GR" sz="2400" dirty="0" err="1"/>
              <a:t>environment</a:t>
            </a:r>
            <a:r>
              <a:rPr lang="el-GR" sz="2400" dirty="0"/>
              <a:t> </a:t>
            </a:r>
            <a:r>
              <a:rPr lang="el-GR" sz="2400" dirty="0" err="1"/>
              <a:t>which</a:t>
            </a:r>
            <a:r>
              <a:rPr lang="el-GR" sz="2400" dirty="0"/>
              <a:t> </a:t>
            </a:r>
            <a:r>
              <a:rPr lang="el-GR" sz="2400" dirty="0" err="1"/>
              <a:t>very</a:t>
            </a:r>
            <a:r>
              <a:rPr lang="el-GR" sz="2400" dirty="0"/>
              <a:t> </a:t>
            </a:r>
            <a:r>
              <a:rPr lang="el-GR" sz="2400" dirty="0" err="1"/>
              <a:t>rapidly</a:t>
            </a:r>
            <a:r>
              <a:rPr lang="el-GR" sz="2400" dirty="0"/>
              <a:t> </a:t>
            </a:r>
            <a:r>
              <a:rPr lang="el-GR" sz="2400" dirty="0" err="1"/>
              <a:t>produces</a:t>
            </a:r>
            <a:r>
              <a:rPr lang="el-GR" sz="2400" dirty="0"/>
              <a:t> a </a:t>
            </a:r>
            <a:r>
              <a:rPr lang="el-GR" sz="2400" dirty="0" err="1"/>
              <a:t>multitude</a:t>
            </a:r>
            <a:r>
              <a:rPr lang="el-GR" sz="2400" dirty="0"/>
              <a:t> of </a:t>
            </a:r>
            <a:r>
              <a:rPr lang="el-GR" sz="2400" dirty="0" err="1"/>
              <a:t>diverse</a:t>
            </a:r>
            <a:r>
              <a:rPr lang="el-GR" sz="2400" dirty="0"/>
              <a:t> </a:t>
            </a:r>
            <a:r>
              <a:rPr lang="el-GR" sz="2400" dirty="0" err="1"/>
              <a:t>creative</a:t>
            </a:r>
            <a:r>
              <a:rPr lang="el-GR" sz="2400" dirty="0"/>
              <a:t> </a:t>
            </a:r>
            <a:r>
              <a:rPr lang="el-GR" sz="2400" dirty="0" err="1"/>
              <a:t>options</a:t>
            </a:r>
            <a:r>
              <a:rPr lang="el-GR" sz="2400" dirty="0"/>
              <a:t>, </a:t>
            </a:r>
            <a:r>
              <a:rPr lang="el-GR" sz="2400" dirty="0" err="1"/>
              <a:t>thus</a:t>
            </a:r>
            <a:r>
              <a:rPr lang="el-GR" sz="2400" dirty="0"/>
              <a:t> </a:t>
            </a:r>
            <a:r>
              <a:rPr lang="el-GR" sz="2400" dirty="0" err="1"/>
              <a:t>by</a:t>
            </a:r>
            <a:r>
              <a:rPr lang="el-GR" sz="2400" dirty="0"/>
              <a:t> </a:t>
            </a:r>
            <a:r>
              <a:rPr lang="el-GR" sz="2400" dirty="0" err="1"/>
              <a:t>broadening</a:t>
            </a:r>
            <a:r>
              <a:rPr lang="el-GR" sz="2400" dirty="0"/>
              <a:t> </a:t>
            </a:r>
            <a:r>
              <a:rPr lang="el-GR" sz="2400" dirty="0" err="1"/>
              <a:t>their</a:t>
            </a:r>
            <a:r>
              <a:rPr lang="el-GR" sz="2400" dirty="0"/>
              <a:t> </a:t>
            </a:r>
            <a:r>
              <a:rPr lang="el-GR" sz="2400" dirty="0" err="1"/>
              <a:t>choices</a:t>
            </a:r>
            <a:r>
              <a:rPr lang="el-GR" sz="2400" dirty="0"/>
              <a:t>. 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W</a:t>
            </a:r>
            <a:r>
              <a:rPr lang="el-GR" sz="2400" dirty="0" err="1"/>
              <a:t>hat</a:t>
            </a:r>
            <a:r>
              <a:rPr lang="el-GR" sz="2400" dirty="0"/>
              <a:t> </a:t>
            </a:r>
            <a:r>
              <a:rPr lang="el-GR" sz="2400" dirty="0" err="1"/>
              <a:t>defines</a:t>
            </a:r>
            <a:r>
              <a:rPr lang="el-GR" sz="2400" dirty="0"/>
              <a:t> the </a:t>
            </a:r>
            <a:r>
              <a:rPr lang="el-GR" sz="2400" dirty="0" err="1"/>
              <a:t>quality</a:t>
            </a:r>
            <a:r>
              <a:rPr lang="el-GR" sz="2400" dirty="0"/>
              <a:t> and </a:t>
            </a:r>
            <a:r>
              <a:rPr lang="el-GR" sz="2400" dirty="0" err="1"/>
              <a:t>originality</a:t>
            </a:r>
            <a:r>
              <a:rPr lang="el-GR" sz="2400" dirty="0"/>
              <a:t> of the </a:t>
            </a:r>
            <a:r>
              <a:rPr lang="el-GR" sz="2400" dirty="0" err="1"/>
              <a:t>musical</a:t>
            </a:r>
            <a:r>
              <a:rPr lang="el-GR" sz="2400" dirty="0"/>
              <a:t> </a:t>
            </a:r>
            <a:r>
              <a:rPr lang="el-GR" sz="2400" dirty="0" err="1"/>
              <a:t>result</a:t>
            </a:r>
            <a:r>
              <a:rPr lang="el-GR" sz="2400" dirty="0"/>
              <a:t> </a:t>
            </a:r>
            <a:r>
              <a:rPr lang="el-GR" sz="2400" dirty="0" err="1"/>
              <a:t>is</a:t>
            </a:r>
            <a:r>
              <a:rPr lang="el-GR" sz="2400" dirty="0"/>
              <a:t> </a:t>
            </a:r>
            <a:r>
              <a:rPr lang="el-GR" sz="2400" dirty="0" err="1"/>
              <a:t>ultimately</a:t>
            </a:r>
            <a:r>
              <a:rPr lang="el-GR" sz="2400" dirty="0"/>
              <a:t> </a:t>
            </a:r>
            <a:r>
              <a:rPr lang="el-GR" sz="2400" dirty="0" err="1"/>
              <a:t>each</a:t>
            </a:r>
            <a:r>
              <a:rPr lang="el-GR" sz="2400" dirty="0"/>
              <a:t> </a:t>
            </a:r>
            <a:r>
              <a:rPr lang="el-GR" sz="2400" dirty="0" err="1"/>
              <a:t>composer's</a:t>
            </a:r>
            <a:r>
              <a:rPr lang="el-GR" sz="2400" dirty="0"/>
              <a:t> </a:t>
            </a:r>
            <a:r>
              <a:rPr lang="el-GR" sz="2400" dirty="0" err="1"/>
              <a:t>personal</a:t>
            </a:r>
            <a:r>
              <a:rPr lang="el-GR" sz="2400" dirty="0"/>
              <a:t> </a:t>
            </a:r>
            <a:r>
              <a:rPr lang="el-GR" sz="2400" dirty="0" err="1"/>
              <a:t>touch</a:t>
            </a:r>
            <a:r>
              <a:rPr lang="el-GR" sz="2400" dirty="0"/>
              <a:t> and </a:t>
            </a:r>
            <a:r>
              <a:rPr lang="el-GR" sz="2400" dirty="0" err="1"/>
              <a:t>inventiveness</a:t>
            </a:r>
            <a:r>
              <a:rPr lang="el-GR" sz="2400" dirty="0"/>
              <a:t>, </a:t>
            </a:r>
            <a:r>
              <a:rPr lang="el-GR" sz="2400" dirty="0" err="1"/>
              <a:t>as</a:t>
            </a:r>
            <a:r>
              <a:rPr lang="el-GR" sz="2400" dirty="0"/>
              <a:t> the </a:t>
            </a:r>
            <a:r>
              <a:rPr lang="el-GR" sz="2400" dirty="0" err="1"/>
              <a:t>creative</a:t>
            </a:r>
            <a:r>
              <a:rPr lang="el-GR" sz="2400" dirty="0"/>
              <a:t> </a:t>
            </a:r>
            <a:r>
              <a:rPr lang="el-GR" sz="2400" dirty="0" err="1"/>
              <a:t>kick</a:t>
            </a:r>
            <a:r>
              <a:rPr lang="el-GR" sz="2400" dirty="0"/>
              <a:t> </a:t>
            </a:r>
            <a:r>
              <a:rPr lang="el-GR" sz="2400" dirty="0" err="1"/>
              <a:t>provided</a:t>
            </a:r>
            <a:r>
              <a:rPr lang="el-GR" sz="2400" dirty="0"/>
              <a:t> </a:t>
            </a:r>
            <a:r>
              <a:rPr lang="el-GR" sz="2400" dirty="0" err="1"/>
              <a:t>by</a:t>
            </a:r>
            <a:r>
              <a:rPr lang="el-GR" sz="2400" dirty="0"/>
              <a:t> CHAMELEON </a:t>
            </a:r>
            <a:r>
              <a:rPr lang="el-GR" sz="2400" dirty="0" err="1"/>
              <a:t>is</a:t>
            </a:r>
            <a:r>
              <a:rPr lang="el-GR" sz="2400" dirty="0"/>
              <a:t> </a:t>
            </a:r>
            <a:r>
              <a:rPr lang="el-GR" sz="2400" dirty="0" err="1"/>
              <a:t>only</a:t>
            </a:r>
            <a:r>
              <a:rPr lang="el-GR" sz="2400" dirty="0"/>
              <a:t> the </a:t>
            </a:r>
            <a:r>
              <a:rPr lang="el-GR" sz="2400" dirty="0" err="1"/>
              <a:t>first</a:t>
            </a:r>
            <a:r>
              <a:rPr lang="el-GR" sz="2400" dirty="0"/>
              <a:t> </a:t>
            </a:r>
            <a:r>
              <a:rPr lang="el-GR" sz="2400" dirty="0" err="1"/>
              <a:t>stage</a:t>
            </a:r>
            <a:r>
              <a:rPr lang="el-GR" sz="2400" dirty="0"/>
              <a:t> of </a:t>
            </a:r>
            <a:r>
              <a:rPr lang="el-GR" sz="2400" dirty="0" err="1"/>
              <a:t>evolution</a:t>
            </a:r>
            <a:r>
              <a:rPr lang="el-GR" sz="2400" dirty="0"/>
              <a:t> of the </a:t>
            </a:r>
            <a:r>
              <a:rPr lang="el-GR" sz="2400" dirty="0" err="1"/>
              <a:t>pieces</a:t>
            </a:r>
            <a:r>
              <a:rPr lang="el-GR" sz="2400" dirty="0"/>
              <a:t>' </a:t>
            </a:r>
            <a:r>
              <a:rPr lang="el-GR" sz="2400" dirty="0" err="1"/>
              <a:t>character</a:t>
            </a:r>
            <a:r>
              <a:rPr lang="el-GR" sz="2400" dirty="0"/>
              <a:t>, </a:t>
            </a:r>
            <a:r>
              <a:rPr lang="el-GR" sz="2400" dirty="0" err="1"/>
              <a:t>form</a:t>
            </a:r>
            <a:r>
              <a:rPr lang="el-GR" sz="2400" dirty="0"/>
              <a:t> and </a:t>
            </a:r>
            <a:r>
              <a:rPr lang="el-GR" sz="2400" dirty="0" err="1"/>
              <a:t>design</a:t>
            </a:r>
            <a:r>
              <a:rPr lang="el-GR" sz="2400" dirty="0"/>
              <a:t>, </a:t>
            </a:r>
            <a:r>
              <a:rPr lang="el-GR" sz="2400" dirty="0" err="1"/>
              <a:t>parameters</a:t>
            </a:r>
            <a:r>
              <a:rPr lang="el-GR" sz="2400" dirty="0"/>
              <a:t> </a:t>
            </a:r>
            <a:r>
              <a:rPr lang="el-GR" sz="2400" dirty="0" err="1"/>
              <a:t>between</a:t>
            </a:r>
            <a:r>
              <a:rPr lang="el-GR" sz="2400" dirty="0"/>
              <a:t> </a:t>
            </a:r>
            <a:r>
              <a:rPr lang="el-GR" sz="2400" dirty="0" err="1"/>
              <a:t>which</a:t>
            </a:r>
            <a:r>
              <a:rPr lang="el-GR" sz="2400" dirty="0"/>
              <a:t> the </a:t>
            </a:r>
            <a:r>
              <a:rPr lang="el-GR" sz="2400" dirty="0" err="1"/>
              <a:t>seven</a:t>
            </a:r>
            <a:r>
              <a:rPr lang="el-GR" sz="2400" dirty="0"/>
              <a:t> </a:t>
            </a:r>
            <a:r>
              <a:rPr lang="el-GR" sz="2400" dirty="0" err="1"/>
              <a:t>compositions</a:t>
            </a:r>
            <a:r>
              <a:rPr lang="el-GR" sz="2400" dirty="0"/>
              <a:t> </a:t>
            </a:r>
            <a:r>
              <a:rPr lang="el-GR" sz="2400" dirty="0" err="1"/>
              <a:t>differentiated</a:t>
            </a:r>
            <a:r>
              <a:rPr lang="el-GR" sz="2400" dirty="0"/>
              <a:t> </a:t>
            </a:r>
            <a:r>
              <a:rPr lang="el-GR" sz="2400" dirty="0" err="1"/>
              <a:t>substantially</a:t>
            </a:r>
            <a:r>
              <a:rPr lang="el-GR" sz="2400" dirty="0"/>
              <a:t>.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Creative systems such as CHAMELEON may enhance users’ appreciation for and engagement with music creation.</a:t>
            </a:r>
          </a:p>
        </p:txBody>
      </p:sp>
    </p:spTree>
    <p:extLst>
      <p:ext uri="{BB962C8B-B14F-4D97-AF65-F5344CB8AC3E}">
        <p14:creationId xmlns:p14="http://schemas.microsoft.com/office/powerpoint/2010/main" val="643009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C5ECB-229E-DD50-B3A1-08B835185FA8}"/>
              </a:ext>
            </a:extLst>
          </p:cNvPr>
          <p:cNvSpPr txBox="1"/>
          <p:nvPr/>
        </p:nvSpPr>
        <p:spPr>
          <a:xfrm>
            <a:off x="1241286" y="1661172"/>
            <a:ext cx="7340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Chameleon has been used by some composers to </a:t>
            </a:r>
            <a:r>
              <a:rPr lang="en-US" dirty="0" err="1"/>
              <a:t>enchance</a:t>
            </a:r>
            <a:r>
              <a:rPr lang="en-US" dirty="0"/>
              <a:t> their work’s creative approach.</a:t>
            </a:r>
          </a:p>
          <a:p>
            <a:endParaRPr lang="en-US" dirty="0"/>
          </a:p>
          <a:p>
            <a:endParaRPr lang="en-US" dirty="0"/>
          </a:p>
          <a:p>
            <a:r>
              <a:rPr lang="fr-FR" dirty="0">
                <a:hlinkClick r:id="rId2"/>
              </a:rPr>
              <a:t>https://ccm.web.auth.gr/creativeusecomposers.html</a:t>
            </a:r>
            <a:endParaRPr lang="el-G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1065A4-E594-E58C-C098-C1E75FEC1476}"/>
              </a:ext>
            </a:extLst>
          </p:cNvPr>
          <p:cNvSpPr txBox="1">
            <a:spLocks/>
          </p:cNvSpPr>
          <p:nvPr/>
        </p:nvSpPr>
        <p:spPr>
          <a:xfrm>
            <a:off x="1139686" y="792955"/>
            <a:ext cx="6795274" cy="540371"/>
          </a:xfrm>
          <a:prstGeom prst="rect">
            <a:avLst/>
          </a:prstGeom>
        </p:spPr>
        <p:txBody>
          <a:bodyPr>
            <a:normAutofit/>
          </a:bodyPr>
          <a:lstStyle>
            <a:lvl1pPr indent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2"/>
                </a:solidFill>
                <a:latin typeface="IBM Plex Mono" panose="020B0509050203000203" pitchFamily="49" charset="0"/>
              </a:rPr>
              <a:t>Used in real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B2CD5-CDAD-0A51-B454-A77D061CAFC6}"/>
              </a:ext>
            </a:extLst>
          </p:cNvPr>
          <p:cNvSpPr txBox="1"/>
          <p:nvPr/>
        </p:nvSpPr>
        <p:spPr>
          <a:xfrm>
            <a:off x="1139686" y="4232673"/>
            <a:ext cx="734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https://www.artificia.pro/chameleons-blendings-premiere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844681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FB3F-4AB0-8E88-57E9-819526A45648}"/>
              </a:ext>
            </a:extLst>
          </p:cNvPr>
          <p:cNvSpPr txBox="1">
            <a:spLocks/>
          </p:cNvSpPr>
          <p:nvPr/>
        </p:nvSpPr>
        <p:spPr>
          <a:xfrm>
            <a:off x="1139687" y="792955"/>
            <a:ext cx="2710070" cy="54037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indent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2"/>
                </a:solidFill>
                <a:latin typeface="IBM Plex Mono" panose="020B0509050203000203" pitchFamily="49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143DB-37D5-C547-8C6A-9D3496F8F52B}"/>
              </a:ext>
            </a:extLst>
          </p:cNvPr>
          <p:cNvSpPr txBox="1">
            <a:spLocks/>
          </p:cNvSpPr>
          <p:nvPr/>
        </p:nvSpPr>
        <p:spPr>
          <a:xfrm>
            <a:off x="1033669" y="16267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575986" indent="-431989" algn="l" defTabSz="1219170" rtl="0" eaLnBrk="1" latinLnBrk="0" hangingPunct="1">
              <a:lnSpc>
                <a:spcPct val="90000"/>
              </a:lnSpc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Training data expansion (on existing idioms and adding more)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Automating the detection of the harmonic notes, tonality and </a:t>
            </a:r>
            <a:r>
              <a:rPr lang="en-US" sz="2400" dirty="0" err="1"/>
              <a:t>cadencas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Adding back the blending percentage bar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Better more musical </a:t>
            </a:r>
            <a:r>
              <a:rPr lang="en-US" sz="2400" dirty="0" err="1"/>
              <a:t>ouput</a:t>
            </a:r>
            <a:r>
              <a:rPr lang="en-US" sz="2400" dirty="0"/>
              <a:t> (music 21 issues)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Fix some bugs when the tonality is different from what expected (</a:t>
            </a:r>
            <a:r>
              <a:rPr lang="en-US" sz="2400" dirty="0" err="1"/>
              <a:t>matlab</a:t>
            </a:r>
            <a:r>
              <a:rPr lang="en-US" sz="2400" dirty="0"/>
              <a:t> -&gt; python)</a:t>
            </a:r>
          </a:p>
        </p:txBody>
      </p:sp>
    </p:spTree>
    <p:extLst>
      <p:ext uri="{BB962C8B-B14F-4D97-AF65-F5344CB8AC3E}">
        <p14:creationId xmlns:p14="http://schemas.microsoft.com/office/powerpoint/2010/main" val="687115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0DBFC2BB-9517-B0AA-C4D0-78DEC0080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37" y="1745249"/>
            <a:ext cx="6748712" cy="4164233"/>
          </a:xfrm>
          <a:prstGeom prst="rect">
            <a:avLst/>
          </a:prstGeom>
        </p:spPr>
      </p:pic>
      <p:pic>
        <p:nvPicPr>
          <p:cNvPr id="4" name="ElNoiDeLaMareORIGINAL">
            <a:hlinkClick r:id="" action="ppaction://media"/>
            <a:extLst>
              <a:ext uri="{FF2B5EF4-FFF2-40B4-BE49-F238E27FC236}">
                <a16:creationId xmlns:a16="http://schemas.microsoft.com/office/drawing/2014/main" id="{6564B71F-0EFD-0E05-3D61-52A22F53D6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50017" y="3340002"/>
            <a:ext cx="48736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>
            <a:extLst>
              <a:ext uri="{FF2B5EF4-FFF2-40B4-BE49-F238E27FC236}">
                <a16:creationId xmlns:a16="http://schemas.microsoft.com/office/drawing/2014/main" id="{A0DDE53B-14A1-83E7-5454-437E6CBFFD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634"/>
            <a:ext cx="5692231" cy="3748036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464D2A93-81BC-F47C-A1C2-A0C853BD9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437" y="82634"/>
            <a:ext cx="5969864" cy="3748036"/>
          </a:xfrm>
          <a:prstGeom prst="rect">
            <a:avLst/>
          </a:prstGeom>
        </p:spPr>
      </p:pic>
      <p:pic>
        <p:nvPicPr>
          <p:cNvPr id="7" name="elNoiDelaMarejazzXbch">
            <a:hlinkClick r:id="" action="ppaction://media"/>
            <a:extLst>
              <a:ext uri="{FF2B5EF4-FFF2-40B4-BE49-F238E27FC236}">
                <a16:creationId xmlns:a16="http://schemas.microsoft.com/office/drawing/2014/main" id="{143E7604-A72F-4E60-3522-4EF003E53A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14588" y="4020185"/>
            <a:ext cx="487362" cy="487363"/>
          </a:xfrm>
          <a:prstGeom prst="rect">
            <a:avLst/>
          </a:prstGeom>
        </p:spPr>
      </p:pic>
      <p:pic>
        <p:nvPicPr>
          <p:cNvPr id="8" name="elNoiDelaMareKostkaD7">
            <a:hlinkClick r:id="" action="ppaction://media"/>
            <a:extLst>
              <a:ext uri="{FF2B5EF4-FFF2-40B4-BE49-F238E27FC236}">
                <a16:creationId xmlns:a16="http://schemas.microsoft.com/office/drawing/2014/main" id="{8475D5BF-520C-3F36-1248-FA325DA787D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481007" y="4263866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0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B13312C0-7D45-587A-29D1-E2EAB9E04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407" y="944834"/>
            <a:ext cx="6713186" cy="3853309"/>
          </a:xfrm>
          <a:prstGeom prst="rect">
            <a:avLst/>
          </a:prstGeom>
        </p:spPr>
      </p:pic>
      <p:pic>
        <p:nvPicPr>
          <p:cNvPr id="4" name="El cant dels ocells_BC_auto">
            <a:hlinkClick r:id="" action="ppaction://media"/>
            <a:extLst>
              <a:ext uri="{FF2B5EF4-FFF2-40B4-BE49-F238E27FC236}">
                <a16:creationId xmlns:a16="http://schemas.microsoft.com/office/drawing/2014/main" id="{EB250C5A-30C2-D3F9-9678-A31B3DF53F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2319" y="5201572"/>
            <a:ext cx="48736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A9F367F7-DF34-92C5-3D98-161F672FFD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624" y="356356"/>
            <a:ext cx="5366689" cy="3174319"/>
          </a:xfrm>
          <a:prstGeom prst="rect">
            <a:avLst/>
          </a:prstGeom>
        </p:spPr>
      </p:pic>
      <p:pic>
        <p:nvPicPr>
          <p:cNvPr id="4" name="bchoral me bchoral d5">
            <a:hlinkClick r:id="" action="ppaction://media"/>
            <a:extLst>
              <a:ext uri="{FF2B5EF4-FFF2-40B4-BE49-F238E27FC236}">
                <a16:creationId xmlns:a16="http://schemas.microsoft.com/office/drawing/2014/main" id="{60F613A7-849D-BD64-6CFD-3BC4115F2C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713243" y="4099437"/>
            <a:ext cx="487362" cy="487363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1397D4C6-0BCC-D671-36FC-F86C32668F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371" y="275303"/>
            <a:ext cx="4838051" cy="4171344"/>
          </a:xfrm>
          <a:prstGeom prst="rect">
            <a:avLst/>
          </a:prstGeom>
        </p:spPr>
      </p:pic>
      <p:pic>
        <p:nvPicPr>
          <p:cNvPr id="7" name="El cant dels ocells_bl_fauxbourdon[0 2 3 5 7 9 10]_D8_Jazz[0 2 4 5 7 9 11]_grp0_NoVL__6zyw0kbtj">
            <a:hlinkClick r:id="" action="ppaction://media"/>
            <a:extLst>
              <a:ext uri="{FF2B5EF4-FFF2-40B4-BE49-F238E27FC236}">
                <a16:creationId xmlns:a16="http://schemas.microsoft.com/office/drawing/2014/main" id="{80BAF395-6CD0-E287-DA90-37CBA72D234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32825" y="4814554"/>
            <a:ext cx="487363" cy="487362"/>
          </a:xfrm>
          <a:prstGeom prst="rect">
            <a:avLst/>
          </a:prstGeom>
        </p:spPr>
      </p:pic>
      <p:pic>
        <p:nvPicPr>
          <p:cNvPr id="2" name="elcantcello">
            <a:hlinkClick r:id="" action="ppaction://media"/>
            <a:extLst>
              <a:ext uri="{FF2B5EF4-FFF2-40B4-BE49-F238E27FC236}">
                <a16:creationId xmlns:a16="http://schemas.microsoft.com/office/drawing/2014/main" id="{CBE0994A-A0B9-B512-9A9C-C968ABE6362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434659" y="5577840"/>
            <a:ext cx="1113473" cy="111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9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61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8F3CC-FC64-75DD-054A-55D68B75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" name="Google Shape;1533;p39">
            <a:extLst>
              <a:ext uri="{FF2B5EF4-FFF2-40B4-BE49-F238E27FC236}">
                <a16:creationId xmlns:a16="http://schemas.microsoft.com/office/drawing/2014/main" id="{A51418AE-64B6-59EF-A250-D57042AAE53D}"/>
              </a:ext>
            </a:extLst>
          </p:cNvPr>
          <p:cNvGrpSpPr/>
          <p:nvPr/>
        </p:nvGrpSpPr>
        <p:grpSpPr>
          <a:xfrm>
            <a:off x="-165120" y="5509920"/>
            <a:ext cx="6078240" cy="1520640"/>
            <a:chOff x="-123840" y="4132440"/>
            <a:chExt cx="4558680" cy="1140480"/>
          </a:xfrm>
        </p:grpSpPr>
        <p:grpSp>
          <p:nvGrpSpPr>
            <p:cNvPr id="1520" name="Google Shape;1534;p39">
              <a:extLst>
                <a:ext uri="{FF2B5EF4-FFF2-40B4-BE49-F238E27FC236}">
                  <a16:creationId xmlns:a16="http://schemas.microsoft.com/office/drawing/2014/main" id="{6DB3B39E-924C-7165-2AF7-B9BBC237952C}"/>
                </a:ext>
              </a:extLst>
            </p:cNvPr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521" name="Google Shape;1535;p39">
                <a:extLst>
                  <a:ext uri="{FF2B5EF4-FFF2-40B4-BE49-F238E27FC236}">
                    <a16:creationId xmlns:a16="http://schemas.microsoft.com/office/drawing/2014/main" id="{39E29A62-8797-17AC-8EAB-CE5AE07DA1F1}"/>
                  </a:ext>
                </a:extLst>
              </p:cNvPr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22" name="Google Shape;1536;p39">
                <a:extLst>
                  <a:ext uri="{FF2B5EF4-FFF2-40B4-BE49-F238E27FC236}">
                    <a16:creationId xmlns:a16="http://schemas.microsoft.com/office/drawing/2014/main" id="{FD5933CD-61F7-74CF-57DD-21BED1FE6742}"/>
                  </a:ext>
                </a:extLst>
              </p:cNvPr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23" name="Google Shape;1537;p39">
              <a:extLst>
                <a:ext uri="{FF2B5EF4-FFF2-40B4-BE49-F238E27FC236}">
                  <a16:creationId xmlns:a16="http://schemas.microsoft.com/office/drawing/2014/main" id="{BEA49B24-4429-06CB-5FB3-124C5018EFCF}"/>
                </a:ext>
              </a:extLst>
            </p:cNvPr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524" name="Google Shape;1538;p39">
                <a:extLst>
                  <a:ext uri="{FF2B5EF4-FFF2-40B4-BE49-F238E27FC236}">
                    <a16:creationId xmlns:a16="http://schemas.microsoft.com/office/drawing/2014/main" id="{35E3E940-070C-5A71-6B5C-CEBA07B79B48}"/>
                  </a:ext>
                </a:extLst>
              </p:cNvPr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525" name="Google Shape;1539;p39">
                <a:extLst>
                  <a:ext uri="{FF2B5EF4-FFF2-40B4-BE49-F238E27FC236}">
                    <a16:creationId xmlns:a16="http://schemas.microsoft.com/office/drawing/2014/main" id="{81CDE436-5065-3CDD-AB5E-C8C3D2F71D99}"/>
                  </a:ext>
                </a:extLst>
              </p:cNvPr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526" name="Google Shape;1540;p39">
                <a:extLst>
                  <a:ext uri="{FF2B5EF4-FFF2-40B4-BE49-F238E27FC236}">
                    <a16:creationId xmlns:a16="http://schemas.microsoft.com/office/drawing/2014/main" id="{3C742741-9BDD-14B8-1EE1-50FF4548ACEA}"/>
                  </a:ext>
                </a:extLst>
              </p:cNvPr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2" name="PlaceHolder 1">
            <a:extLst>
              <a:ext uri="{FF2B5EF4-FFF2-40B4-BE49-F238E27FC236}">
                <a16:creationId xmlns:a16="http://schemas.microsoft.com/office/drawing/2014/main" id="{EADDA987-35A9-927D-88EA-C624C317DEEB}"/>
              </a:ext>
            </a:extLst>
          </p:cNvPr>
          <p:cNvSpPr txBox="1">
            <a:spLocks/>
          </p:cNvSpPr>
          <p:nvPr/>
        </p:nvSpPr>
        <p:spPr>
          <a:xfrm>
            <a:off x="1536480" y="2146080"/>
            <a:ext cx="5930400" cy="165072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indent="-304792" defTabSz="1219170">
              <a:lnSpc>
                <a:spcPct val="100000"/>
              </a:lnSpc>
              <a:spcBef>
                <a:spcPts val="1333"/>
              </a:spcBef>
              <a:tabLst>
                <a:tab pos="0" algn="l"/>
              </a:tabLst>
            </a:pPr>
            <a:r>
              <a:rPr lang="en" sz="2667" b="1" spc="-1" dirty="0">
                <a:solidFill>
                  <a:srgbClr val="1D1D1D"/>
                </a:solidFill>
                <a:latin typeface="IBM Plex Mono"/>
                <a:ea typeface="IBM Plex Mono"/>
              </a:rPr>
              <a:t>Do you have any questions?</a:t>
            </a:r>
            <a:br>
              <a:rPr lang="en" sz="2667" b="1" spc="-1" dirty="0">
                <a:solidFill>
                  <a:srgbClr val="1D1D1D"/>
                </a:solidFill>
                <a:latin typeface="IBM Plex Mono"/>
                <a:ea typeface="IBM Plex Mono"/>
              </a:rPr>
            </a:br>
            <a:r>
              <a:rPr lang="en" sz="2667" b="1" spc="-1" dirty="0">
                <a:solidFill>
                  <a:srgbClr val="1D1D1D"/>
                </a:solidFill>
                <a:latin typeface="IBM Plex Mono"/>
                <a:ea typeface="IBM Plex Mono"/>
              </a:rPr>
              <a:t>Lets try some music together!</a:t>
            </a:r>
          </a:p>
          <a:p>
            <a:pPr marL="0" indent="0" defTabSz="1219170">
              <a:lnSpc>
                <a:spcPct val="100000"/>
              </a:lnSpc>
              <a:spcBef>
                <a:spcPts val="1333"/>
              </a:spcBef>
              <a:buNone/>
              <a:tabLst>
                <a:tab pos="0" algn="l"/>
              </a:tabLst>
            </a:pPr>
            <a:r>
              <a:rPr lang="en" sz="4200" b="1" spc="-1" dirty="0">
                <a:solidFill>
                  <a:srgbClr val="1D1D1D"/>
                </a:solidFill>
                <a:latin typeface="IBM Plex Mono"/>
                <a:hlinkClick r:id="rId2"/>
              </a:rPr>
              <a:t>christkoutso@gmail.com</a:t>
            </a:r>
            <a:endParaRPr lang="en" sz="4200" b="1" spc="-1" dirty="0">
              <a:solidFill>
                <a:srgbClr val="1D1D1D"/>
              </a:solidFill>
              <a:latin typeface="IBM Plex Mono"/>
            </a:endParaRPr>
          </a:p>
          <a:p>
            <a:pPr marL="0" indent="0" defTabSz="1219170">
              <a:lnSpc>
                <a:spcPct val="100000"/>
              </a:lnSpc>
              <a:spcBef>
                <a:spcPts val="1333"/>
              </a:spcBef>
              <a:buNone/>
              <a:tabLst>
                <a:tab pos="0" algn="l"/>
              </a:tabLst>
            </a:pPr>
            <a:endParaRPr lang="en-US" sz="2667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C06AADB-1F7C-144D-69B4-1E5D6397316C}"/>
              </a:ext>
            </a:extLst>
          </p:cNvPr>
          <p:cNvSpPr txBox="1">
            <a:spLocks/>
          </p:cNvSpPr>
          <p:nvPr/>
        </p:nvSpPr>
        <p:spPr>
          <a:xfrm>
            <a:off x="1549441" y="660480"/>
            <a:ext cx="6370975" cy="1409280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70">
              <a:lnSpc>
                <a:spcPct val="100000"/>
              </a:lnSpc>
              <a:tabLst>
                <a:tab pos="0" algn="l"/>
              </a:tabLst>
            </a:pPr>
            <a:r>
              <a:rPr lang="en" sz="8666" b="1" spc="-1" dirty="0">
                <a:solidFill>
                  <a:srgbClr val="0C0A9E"/>
                </a:solidFill>
                <a:latin typeface="IBM Plex Mono"/>
                <a:ea typeface="IBM Plex Mono"/>
              </a:rPr>
              <a:t>Thank you!</a:t>
            </a:r>
            <a:endParaRPr lang="fr-FR" sz="8666" spc="-1" dirty="0">
              <a:solidFill>
                <a:srgbClr val="1D1D1D"/>
              </a:solidFill>
              <a:latin typeface="Arial"/>
            </a:endParaRPr>
          </a:p>
        </p:txBody>
      </p:sp>
      <p:grpSp>
        <p:nvGrpSpPr>
          <p:cNvPr id="4" name="Google Shape;2414;p64">
            <a:extLst>
              <a:ext uri="{FF2B5EF4-FFF2-40B4-BE49-F238E27FC236}">
                <a16:creationId xmlns:a16="http://schemas.microsoft.com/office/drawing/2014/main" id="{DAE7875D-DD9E-060E-D74F-3F074A99D4B4}"/>
              </a:ext>
            </a:extLst>
          </p:cNvPr>
          <p:cNvGrpSpPr/>
          <p:nvPr/>
        </p:nvGrpSpPr>
        <p:grpSpPr>
          <a:xfrm>
            <a:off x="3747360" y="3979680"/>
            <a:ext cx="796800" cy="514080"/>
            <a:chOff x="2810520" y="2984760"/>
            <a:chExt cx="597600" cy="385560"/>
          </a:xfrm>
        </p:grpSpPr>
        <p:sp>
          <p:nvSpPr>
            <p:cNvPr id="5" name="Google Shape;2415;p64">
              <a:extLst>
                <a:ext uri="{FF2B5EF4-FFF2-40B4-BE49-F238E27FC236}">
                  <a16:creationId xmlns:a16="http://schemas.microsoft.com/office/drawing/2014/main" id="{CCAF1B6A-7E43-3B11-09AF-E4DAB2F5E5CB}"/>
                </a:ext>
              </a:extLst>
            </p:cNvPr>
            <p:cNvSpPr/>
            <p:nvPr/>
          </p:nvSpPr>
          <p:spPr>
            <a:xfrm>
              <a:off x="2967840" y="3032640"/>
              <a:ext cx="282600" cy="28296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282960"/>
                <a:gd name="textAreaBottom" fmla="*/ 283320 h 282960"/>
              </a:gdLst>
              <a:ahLst/>
              <a:cxnLst/>
              <a:rect l="textAreaLeft" t="textAreaTop" r="textAreaRight" b="textAreaBottom"/>
              <a:pathLst>
                <a:path w="10860" h="10872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" name="Google Shape;2416;p64">
              <a:extLst>
                <a:ext uri="{FF2B5EF4-FFF2-40B4-BE49-F238E27FC236}">
                  <a16:creationId xmlns:a16="http://schemas.microsoft.com/office/drawing/2014/main" id="{E01C90F4-8927-01B1-3BBE-841C831FBEAB}"/>
                </a:ext>
              </a:extLst>
            </p:cNvPr>
            <p:cNvSpPr/>
            <p:nvPr/>
          </p:nvSpPr>
          <p:spPr>
            <a:xfrm>
              <a:off x="281052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" name="Google Shape;2417;p64">
            <a:extLst>
              <a:ext uri="{FF2B5EF4-FFF2-40B4-BE49-F238E27FC236}">
                <a16:creationId xmlns:a16="http://schemas.microsoft.com/office/drawing/2014/main" id="{79167D20-FCB3-0FEA-125B-594CB0FF1D10}"/>
              </a:ext>
            </a:extLst>
          </p:cNvPr>
          <p:cNvGrpSpPr/>
          <p:nvPr/>
        </p:nvGrpSpPr>
        <p:grpSpPr>
          <a:xfrm>
            <a:off x="2696640" y="3979680"/>
            <a:ext cx="796800" cy="514080"/>
            <a:chOff x="2022480" y="2984760"/>
            <a:chExt cx="597600" cy="385560"/>
          </a:xfrm>
        </p:grpSpPr>
        <p:grpSp>
          <p:nvGrpSpPr>
            <p:cNvPr id="8" name="Google Shape;2418;p64">
              <a:extLst>
                <a:ext uri="{FF2B5EF4-FFF2-40B4-BE49-F238E27FC236}">
                  <a16:creationId xmlns:a16="http://schemas.microsoft.com/office/drawing/2014/main" id="{D315F277-4B74-D735-0AA6-582597BC5452}"/>
                </a:ext>
              </a:extLst>
            </p:cNvPr>
            <p:cNvGrpSpPr/>
            <p:nvPr/>
          </p:nvGrpSpPr>
          <p:grpSpPr>
            <a:xfrm>
              <a:off x="2179800" y="3032640"/>
              <a:ext cx="282960" cy="282600"/>
              <a:chOff x="2179800" y="3032640"/>
              <a:chExt cx="282960" cy="282600"/>
            </a:xfrm>
          </p:grpSpPr>
          <p:sp>
            <p:nvSpPr>
              <p:cNvPr id="10" name="Google Shape;2419;p64">
                <a:extLst>
                  <a:ext uri="{FF2B5EF4-FFF2-40B4-BE49-F238E27FC236}">
                    <a16:creationId xmlns:a16="http://schemas.microsoft.com/office/drawing/2014/main" id="{E771C596-2D16-BD26-E2DD-6944C80E8727}"/>
                  </a:ext>
                </a:extLst>
              </p:cNvPr>
              <p:cNvSpPr/>
              <p:nvPr/>
            </p:nvSpPr>
            <p:spPr>
              <a:xfrm>
                <a:off x="2179800" y="3032640"/>
                <a:ext cx="282960" cy="28260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82600"/>
                  <a:gd name="textAreaBottom" fmla="*/ 282960 h 28260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" name="Google Shape;2420;p64">
                <a:extLst>
                  <a:ext uri="{FF2B5EF4-FFF2-40B4-BE49-F238E27FC236}">
                    <a16:creationId xmlns:a16="http://schemas.microsoft.com/office/drawing/2014/main" id="{64B73E6C-D528-C33E-8DB9-BC350943D6A1}"/>
                  </a:ext>
                </a:extLst>
              </p:cNvPr>
              <p:cNvSpPr/>
              <p:nvPr/>
            </p:nvSpPr>
            <p:spPr>
              <a:xfrm>
                <a:off x="2233080" y="3085920"/>
                <a:ext cx="175680" cy="175680"/>
              </a:xfrm>
              <a:custGeom>
                <a:avLst/>
                <a:gdLst>
                  <a:gd name="textAreaLeft" fmla="*/ 0 w 175680"/>
                  <a:gd name="textAreaRight" fmla="*/ 176040 w 175680"/>
                  <a:gd name="textAreaTop" fmla="*/ 0 h 175680"/>
                  <a:gd name="textAreaBottom" fmla="*/ 176040 h 17568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7120" bIns="1171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" name="Google Shape;2421;p64">
                <a:extLst>
                  <a:ext uri="{FF2B5EF4-FFF2-40B4-BE49-F238E27FC236}">
                    <a16:creationId xmlns:a16="http://schemas.microsoft.com/office/drawing/2014/main" id="{C3A4CC90-3D3C-A94B-1C67-7397871952D5}"/>
                  </a:ext>
                </a:extLst>
              </p:cNvPr>
              <p:cNvSpPr/>
              <p:nvPr/>
            </p:nvSpPr>
            <p:spPr>
              <a:xfrm>
                <a:off x="2273760" y="3127680"/>
                <a:ext cx="93600" cy="91800"/>
              </a:xfrm>
              <a:custGeom>
                <a:avLst/>
                <a:gdLst>
                  <a:gd name="textAreaLeft" fmla="*/ 0 w 93600"/>
                  <a:gd name="textAreaRight" fmla="*/ 93960 w 9360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440" bIns="6144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" name="Google Shape;2422;p64">
                <a:extLst>
                  <a:ext uri="{FF2B5EF4-FFF2-40B4-BE49-F238E27FC236}">
                    <a16:creationId xmlns:a16="http://schemas.microsoft.com/office/drawing/2014/main" id="{342DB23B-4B80-D7F9-80E7-2850E9F6E00D}"/>
                  </a:ext>
                </a:extLst>
              </p:cNvPr>
              <p:cNvSpPr/>
              <p:nvPr/>
            </p:nvSpPr>
            <p:spPr>
              <a:xfrm>
                <a:off x="2356560" y="3108600"/>
                <a:ext cx="23760" cy="23400"/>
              </a:xfrm>
              <a:custGeom>
                <a:avLst/>
                <a:gdLst>
                  <a:gd name="textAreaLeft" fmla="*/ 0 w 23760"/>
                  <a:gd name="textAreaRight" fmla="*/ 24120 w 23760"/>
                  <a:gd name="textAreaTop" fmla="*/ 0 h 23400"/>
                  <a:gd name="textAreaBottom" fmla="*/ 23760 h 2340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9" name="Google Shape;2423;p64">
              <a:extLst>
                <a:ext uri="{FF2B5EF4-FFF2-40B4-BE49-F238E27FC236}">
                  <a16:creationId xmlns:a16="http://schemas.microsoft.com/office/drawing/2014/main" id="{F1A5C7F8-5796-011C-493B-285ECE9AF158}"/>
                </a:ext>
              </a:extLst>
            </p:cNvPr>
            <p:cNvSpPr/>
            <p:nvPr/>
          </p:nvSpPr>
          <p:spPr>
            <a:xfrm>
              <a:off x="20224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" name="Google Shape;2424;p64">
            <a:extLst>
              <a:ext uri="{FF2B5EF4-FFF2-40B4-BE49-F238E27FC236}">
                <a16:creationId xmlns:a16="http://schemas.microsoft.com/office/drawing/2014/main" id="{B07CFAC8-73F6-6F69-201F-86F0B8025128}"/>
              </a:ext>
            </a:extLst>
          </p:cNvPr>
          <p:cNvGrpSpPr/>
          <p:nvPr/>
        </p:nvGrpSpPr>
        <p:grpSpPr>
          <a:xfrm>
            <a:off x="1645440" y="3979680"/>
            <a:ext cx="796800" cy="514080"/>
            <a:chOff x="1234080" y="2984760"/>
            <a:chExt cx="597600" cy="385560"/>
          </a:xfrm>
        </p:grpSpPr>
        <p:grpSp>
          <p:nvGrpSpPr>
            <p:cNvPr id="15" name="Google Shape;2425;p64">
              <a:extLst>
                <a:ext uri="{FF2B5EF4-FFF2-40B4-BE49-F238E27FC236}">
                  <a16:creationId xmlns:a16="http://schemas.microsoft.com/office/drawing/2014/main" id="{4AAEFB6A-E5D8-5F40-4E77-F3B7457DC405}"/>
                </a:ext>
              </a:extLst>
            </p:cNvPr>
            <p:cNvGrpSpPr/>
            <p:nvPr/>
          </p:nvGrpSpPr>
          <p:grpSpPr>
            <a:xfrm>
              <a:off x="1391400" y="3035880"/>
              <a:ext cx="283320" cy="282960"/>
              <a:chOff x="1391400" y="3035880"/>
              <a:chExt cx="283320" cy="282960"/>
            </a:xfrm>
          </p:grpSpPr>
          <p:sp>
            <p:nvSpPr>
              <p:cNvPr id="17" name="Google Shape;2426;p64">
                <a:extLst>
                  <a:ext uri="{FF2B5EF4-FFF2-40B4-BE49-F238E27FC236}">
                    <a16:creationId xmlns:a16="http://schemas.microsoft.com/office/drawing/2014/main" id="{77AAF0F7-FF47-F4AF-D8E1-8298BDCFF8C8}"/>
                  </a:ext>
                </a:extLst>
              </p:cNvPr>
              <p:cNvSpPr/>
              <p:nvPr/>
            </p:nvSpPr>
            <p:spPr>
              <a:xfrm>
                <a:off x="1391400" y="3035880"/>
                <a:ext cx="283320" cy="282960"/>
              </a:xfrm>
              <a:custGeom>
                <a:avLst/>
                <a:gdLst>
                  <a:gd name="textAreaLeft" fmla="*/ 0 w 283320"/>
                  <a:gd name="textAreaRight" fmla="*/ 283680 w 283320"/>
                  <a:gd name="textAreaTop" fmla="*/ 0 h 282960"/>
                  <a:gd name="textAreaBottom" fmla="*/ 283320 h 28296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" name="Google Shape;2427;p64">
                <a:extLst>
                  <a:ext uri="{FF2B5EF4-FFF2-40B4-BE49-F238E27FC236}">
                    <a16:creationId xmlns:a16="http://schemas.microsoft.com/office/drawing/2014/main" id="{FB265725-B71D-6233-6E0D-228224931A35}"/>
                  </a:ext>
                </a:extLst>
              </p:cNvPr>
              <p:cNvSpPr/>
              <p:nvPr/>
            </p:nvSpPr>
            <p:spPr>
              <a:xfrm>
                <a:off x="1456560" y="3149280"/>
                <a:ext cx="38880" cy="98280"/>
              </a:xfrm>
              <a:custGeom>
                <a:avLst/>
                <a:gdLst>
                  <a:gd name="textAreaLeft" fmla="*/ 0 w 38880"/>
                  <a:gd name="textAreaRight" fmla="*/ 39240 w 3888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760" bIns="657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" name="Google Shape;2428;p64">
                <a:extLst>
                  <a:ext uri="{FF2B5EF4-FFF2-40B4-BE49-F238E27FC236}">
                    <a16:creationId xmlns:a16="http://schemas.microsoft.com/office/drawing/2014/main" id="{05B1F2A7-37E6-4898-74EF-B9286FB2D6A3}"/>
                  </a:ext>
                </a:extLst>
              </p:cNvPr>
              <p:cNvSpPr/>
              <p:nvPr/>
            </p:nvSpPr>
            <p:spPr>
              <a:xfrm>
                <a:off x="1450800" y="3095640"/>
                <a:ext cx="44640" cy="44640"/>
              </a:xfrm>
              <a:custGeom>
                <a:avLst/>
                <a:gdLst>
                  <a:gd name="textAreaLeft" fmla="*/ 0 w 44640"/>
                  <a:gd name="textAreaRight" fmla="*/ 45000 w 4464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760" bIns="297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" name="Google Shape;2429;p64">
                <a:extLst>
                  <a:ext uri="{FF2B5EF4-FFF2-40B4-BE49-F238E27FC236}">
                    <a16:creationId xmlns:a16="http://schemas.microsoft.com/office/drawing/2014/main" id="{A9AA2232-2A4C-36DA-E9A5-2A28B6D434BF}"/>
                  </a:ext>
                </a:extLst>
              </p:cNvPr>
              <p:cNvSpPr/>
              <p:nvPr/>
            </p:nvSpPr>
            <p:spPr>
              <a:xfrm>
                <a:off x="1516320" y="3149280"/>
                <a:ext cx="104760" cy="98280"/>
              </a:xfrm>
              <a:custGeom>
                <a:avLst/>
                <a:gdLst>
                  <a:gd name="textAreaLeft" fmla="*/ 0 w 104760"/>
                  <a:gd name="textAreaRight" fmla="*/ 105120 w 10476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760" bIns="657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6" name="Google Shape;2430;p64">
              <a:extLst>
                <a:ext uri="{FF2B5EF4-FFF2-40B4-BE49-F238E27FC236}">
                  <a16:creationId xmlns:a16="http://schemas.microsoft.com/office/drawing/2014/main" id="{032BA118-66CE-1428-061C-B47D693A7E8A}"/>
                </a:ext>
              </a:extLst>
            </p:cNvPr>
            <p:cNvSpPr/>
            <p:nvPr/>
          </p:nvSpPr>
          <p:spPr>
            <a:xfrm>
              <a:off x="1234080" y="2984760"/>
              <a:ext cx="597600" cy="385560"/>
            </a:xfrm>
            <a:prstGeom prst="rect">
              <a:avLst/>
            </a:prstGeom>
            <a:noFill/>
            <a:ln w="9525">
              <a:solidFill>
                <a:srgbClr val="EB910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2" name="Google Shape;2431;p64">
            <a:extLst>
              <a:ext uri="{FF2B5EF4-FFF2-40B4-BE49-F238E27FC236}">
                <a16:creationId xmlns:a16="http://schemas.microsoft.com/office/drawing/2014/main" id="{06554E72-9CD2-18D2-5B8E-C1D2F00102D8}"/>
              </a:ext>
            </a:extLst>
          </p:cNvPr>
          <p:cNvGrpSpPr/>
          <p:nvPr/>
        </p:nvGrpSpPr>
        <p:grpSpPr>
          <a:xfrm>
            <a:off x="9032160" y="-1606560"/>
            <a:ext cx="5535360" cy="7369440"/>
            <a:chOff x="6774120" y="-1204920"/>
            <a:chExt cx="4151520" cy="5527080"/>
          </a:xfrm>
        </p:grpSpPr>
        <p:sp>
          <p:nvSpPr>
            <p:cNvPr id="53" name="Google Shape;2433;p64">
              <a:extLst>
                <a:ext uri="{FF2B5EF4-FFF2-40B4-BE49-F238E27FC236}">
                  <a16:creationId xmlns:a16="http://schemas.microsoft.com/office/drawing/2014/main" id="{2784CDD7-CC15-93B2-575E-C16110B3975F}"/>
                </a:ext>
              </a:extLst>
            </p:cNvPr>
            <p:cNvSpPr/>
            <p:nvPr/>
          </p:nvSpPr>
          <p:spPr>
            <a:xfrm rot="10800000" flipV="1">
              <a:off x="8072640" y="-34956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" name="Google Shape;2434;p64">
              <a:extLst>
                <a:ext uri="{FF2B5EF4-FFF2-40B4-BE49-F238E27FC236}">
                  <a16:creationId xmlns:a16="http://schemas.microsoft.com/office/drawing/2014/main" id="{5543A787-B155-0242-1F10-16DD21A12F9D}"/>
                </a:ext>
              </a:extLst>
            </p:cNvPr>
            <p:cNvSpPr/>
            <p:nvPr/>
          </p:nvSpPr>
          <p:spPr>
            <a:xfrm rot="10800000" flipV="1">
              <a:off x="8241480" y="-35028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" name="Google Shape;2435;p64">
              <a:extLst>
                <a:ext uri="{FF2B5EF4-FFF2-40B4-BE49-F238E27FC236}">
                  <a16:creationId xmlns:a16="http://schemas.microsoft.com/office/drawing/2014/main" id="{B19D1E8E-9A5B-B7AF-9E43-49C2D1B3EAB4}"/>
                </a:ext>
              </a:extLst>
            </p:cNvPr>
            <p:cNvSpPr/>
            <p:nvPr/>
          </p:nvSpPr>
          <p:spPr>
            <a:xfrm flipV="1">
              <a:off x="6774120" y="-1098720"/>
              <a:ext cx="3339000" cy="5420880"/>
            </a:xfrm>
            <a:custGeom>
              <a:avLst/>
              <a:gdLst>
                <a:gd name="textAreaLeft" fmla="*/ 0 w 3339000"/>
                <a:gd name="textAreaRight" fmla="*/ 3339360 w 3339000"/>
                <a:gd name="textAreaTop" fmla="*/ 360 h 5420880"/>
                <a:gd name="textAreaBottom" fmla="*/ 5421600 h 54208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56" name="Google Shape;2436;p64">
              <a:extLst>
                <a:ext uri="{FF2B5EF4-FFF2-40B4-BE49-F238E27FC236}">
                  <a16:creationId xmlns:a16="http://schemas.microsoft.com/office/drawing/2014/main" id="{B167D951-B16E-2F10-E42F-71B1A8B57E46}"/>
                </a:ext>
              </a:extLst>
            </p:cNvPr>
            <p:cNvGrpSpPr/>
            <p:nvPr/>
          </p:nvGrpSpPr>
          <p:grpSpPr>
            <a:xfrm>
              <a:off x="7802280" y="653040"/>
              <a:ext cx="615960" cy="615960"/>
              <a:chOff x="7802280" y="653040"/>
              <a:chExt cx="615960" cy="615960"/>
            </a:xfrm>
          </p:grpSpPr>
          <p:sp>
            <p:nvSpPr>
              <p:cNvPr id="1484" name="Google Shape;2437;p64">
                <a:extLst>
                  <a:ext uri="{FF2B5EF4-FFF2-40B4-BE49-F238E27FC236}">
                    <a16:creationId xmlns:a16="http://schemas.microsoft.com/office/drawing/2014/main" id="{DE13AF64-03FE-5514-0544-68327169FAE0}"/>
                  </a:ext>
                </a:extLst>
              </p:cNvPr>
              <p:cNvSpPr/>
              <p:nvPr/>
            </p:nvSpPr>
            <p:spPr>
              <a:xfrm flipV="1">
                <a:off x="7802280" y="65304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880" bIns="86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5" name="Google Shape;2438;p64">
                <a:extLst>
                  <a:ext uri="{FF2B5EF4-FFF2-40B4-BE49-F238E27FC236}">
                    <a16:creationId xmlns:a16="http://schemas.microsoft.com/office/drawing/2014/main" id="{6DEB3024-DC34-FF96-DE94-E026E21F4444}"/>
                  </a:ext>
                </a:extLst>
              </p:cNvPr>
              <p:cNvSpPr/>
              <p:nvPr/>
            </p:nvSpPr>
            <p:spPr>
              <a:xfrm flipV="1">
                <a:off x="7882920" y="732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360" bIns="873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6" name="Google Shape;2439;p64">
                <a:extLst>
                  <a:ext uri="{FF2B5EF4-FFF2-40B4-BE49-F238E27FC236}">
                    <a16:creationId xmlns:a16="http://schemas.microsoft.com/office/drawing/2014/main" id="{3A2ADFCC-B4BB-6980-EB5A-FFE9797E0DA2}"/>
                  </a:ext>
                </a:extLst>
              </p:cNvPr>
              <p:cNvSpPr/>
              <p:nvPr/>
            </p:nvSpPr>
            <p:spPr>
              <a:xfrm flipV="1">
                <a:off x="7963920" y="814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880" bIns="86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7" name="Google Shape;2440;p64">
                <a:extLst>
                  <a:ext uri="{FF2B5EF4-FFF2-40B4-BE49-F238E27FC236}">
                    <a16:creationId xmlns:a16="http://schemas.microsoft.com/office/drawing/2014/main" id="{561C9FB7-4B2A-F1C0-91DE-2B0FD98765DF}"/>
                  </a:ext>
                </a:extLst>
              </p:cNvPr>
              <p:cNvSpPr/>
              <p:nvPr/>
            </p:nvSpPr>
            <p:spPr>
              <a:xfrm flipV="1">
                <a:off x="8044560" y="895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880" bIns="86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8" name="Google Shape;2441;p64">
                <a:extLst>
                  <a:ext uri="{FF2B5EF4-FFF2-40B4-BE49-F238E27FC236}">
                    <a16:creationId xmlns:a16="http://schemas.microsoft.com/office/drawing/2014/main" id="{0004D245-1F71-407C-2271-50DD77E51B09}"/>
                  </a:ext>
                </a:extLst>
              </p:cNvPr>
              <p:cNvSpPr/>
              <p:nvPr/>
            </p:nvSpPr>
            <p:spPr>
              <a:xfrm flipV="1">
                <a:off x="8125920" y="97632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880" bIns="86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9" name="Google Shape;2442;p64">
                <a:extLst>
                  <a:ext uri="{FF2B5EF4-FFF2-40B4-BE49-F238E27FC236}">
                    <a16:creationId xmlns:a16="http://schemas.microsoft.com/office/drawing/2014/main" id="{CE095FCC-8711-936F-5139-B2B7F27241D1}"/>
                  </a:ext>
                </a:extLst>
              </p:cNvPr>
              <p:cNvSpPr/>
              <p:nvPr/>
            </p:nvSpPr>
            <p:spPr>
              <a:xfrm flipV="1">
                <a:off x="8206560" y="105768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880" bIns="8688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90" name="Google Shape;2443;p64">
                <a:extLst>
                  <a:ext uri="{FF2B5EF4-FFF2-40B4-BE49-F238E27FC236}">
                    <a16:creationId xmlns:a16="http://schemas.microsoft.com/office/drawing/2014/main" id="{4A090898-9B2D-7F27-32F9-9D4F9354D364}"/>
                  </a:ext>
                </a:extLst>
              </p:cNvPr>
              <p:cNvSpPr/>
              <p:nvPr/>
            </p:nvSpPr>
            <p:spPr>
              <a:xfrm flipV="1">
                <a:off x="8287920" y="1137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360" bIns="8736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7" name="Google Shape;2444;p64">
              <a:extLst>
                <a:ext uri="{FF2B5EF4-FFF2-40B4-BE49-F238E27FC236}">
                  <a16:creationId xmlns:a16="http://schemas.microsoft.com/office/drawing/2014/main" id="{A3FF4CDC-E1D8-4CB8-C6D7-34DD0184A7BF}"/>
                </a:ext>
              </a:extLst>
            </p:cNvPr>
            <p:cNvGrpSpPr/>
            <p:nvPr/>
          </p:nvGrpSpPr>
          <p:grpSpPr>
            <a:xfrm>
              <a:off x="8276760" y="1334520"/>
              <a:ext cx="141480" cy="141480"/>
              <a:chOff x="8276760" y="1334520"/>
              <a:chExt cx="141480" cy="141480"/>
            </a:xfrm>
          </p:grpSpPr>
          <p:sp>
            <p:nvSpPr>
              <p:cNvPr id="1482" name="Google Shape;2445;p64">
                <a:extLst>
                  <a:ext uri="{FF2B5EF4-FFF2-40B4-BE49-F238E27FC236}">
                    <a16:creationId xmlns:a16="http://schemas.microsoft.com/office/drawing/2014/main" id="{1CC6D51A-8CFB-DD74-049C-0DA9861551EA}"/>
                  </a:ext>
                </a:extLst>
              </p:cNvPr>
              <p:cNvSpPr/>
              <p:nvPr/>
            </p:nvSpPr>
            <p:spPr>
              <a:xfrm flipV="1">
                <a:off x="8276760" y="1334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720" bIns="667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3" name="Google Shape;2446;p64">
                <a:extLst>
                  <a:ext uri="{FF2B5EF4-FFF2-40B4-BE49-F238E27FC236}">
                    <a16:creationId xmlns:a16="http://schemas.microsoft.com/office/drawing/2014/main" id="{DF9F12BB-CFEA-4513-2E0F-BB9782F491B8}"/>
                  </a:ext>
                </a:extLst>
              </p:cNvPr>
              <p:cNvSpPr/>
              <p:nvPr/>
            </p:nvSpPr>
            <p:spPr>
              <a:xfrm flipV="1">
                <a:off x="8296560" y="135504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000" bIns="4800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8" name="Google Shape;2447;p64">
              <a:extLst>
                <a:ext uri="{FF2B5EF4-FFF2-40B4-BE49-F238E27FC236}">
                  <a16:creationId xmlns:a16="http://schemas.microsoft.com/office/drawing/2014/main" id="{E35B5AB9-2EF4-B1BA-8740-7EC99409DFF4}"/>
                </a:ext>
              </a:extLst>
            </p:cNvPr>
            <p:cNvGrpSpPr/>
            <p:nvPr/>
          </p:nvGrpSpPr>
          <p:grpSpPr>
            <a:xfrm>
              <a:off x="7869960" y="1730520"/>
              <a:ext cx="141480" cy="141480"/>
              <a:chOff x="7869960" y="1730520"/>
              <a:chExt cx="141480" cy="141480"/>
            </a:xfrm>
          </p:grpSpPr>
          <p:sp>
            <p:nvSpPr>
              <p:cNvPr id="1480" name="Google Shape;2448;p64">
                <a:extLst>
                  <a:ext uri="{FF2B5EF4-FFF2-40B4-BE49-F238E27FC236}">
                    <a16:creationId xmlns:a16="http://schemas.microsoft.com/office/drawing/2014/main" id="{0C37ACA2-9816-B893-0A88-FDFA2B72F636}"/>
                  </a:ext>
                </a:extLst>
              </p:cNvPr>
              <p:cNvSpPr/>
              <p:nvPr/>
            </p:nvSpPr>
            <p:spPr>
              <a:xfrm flipV="1">
                <a:off x="7869960" y="1730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720" bIns="667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1" name="Google Shape;2449;p64">
                <a:extLst>
                  <a:ext uri="{FF2B5EF4-FFF2-40B4-BE49-F238E27FC236}">
                    <a16:creationId xmlns:a16="http://schemas.microsoft.com/office/drawing/2014/main" id="{FAC825B4-AD55-0D35-894A-4F86FEB03184}"/>
                  </a:ext>
                </a:extLst>
              </p:cNvPr>
              <p:cNvSpPr/>
              <p:nvPr/>
            </p:nvSpPr>
            <p:spPr>
              <a:xfrm flipV="1">
                <a:off x="7889760" y="175068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000" bIns="4800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9" name="Google Shape;2450;p64">
              <a:extLst>
                <a:ext uri="{FF2B5EF4-FFF2-40B4-BE49-F238E27FC236}">
                  <a16:creationId xmlns:a16="http://schemas.microsoft.com/office/drawing/2014/main" id="{4DC3D22F-E3F9-4B6A-94EA-A17E0239E4AE}"/>
                </a:ext>
              </a:extLst>
            </p:cNvPr>
            <p:cNvGrpSpPr/>
            <p:nvPr/>
          </p:nvGrpSpPr>
          <p:grpSpPr>
            <a:xfrm>
              <a:off x="8921880" y="2457000"/>
              <a:ext cx="141480" cy="141480"/>
              <a:chOff x="8921880" y="2457000"/>
              <a:chExt cx="141480" cy="141480"/>
            </a:xfrm>
          </p:grpSpPr>
          <p:sp>
            <p:nvSpPr>
              <p:cNvPr id="1478" name="Google Shape;2451;p64">
                <a:extLst>
                  <a:ext uri="{FF2B5EF4-FFF2-40B4-BE49-F238E27FC236}">
                    <a16:creationId xmlns:a16="http://schemas.microsoft.com/office/drawing/2014/main" id="{A05D7D1A-DC71-6CAA-4BAF-781BA570AA18}"/>
                  </a:ext>
                </a:extLst>
              </p:cNvPr>
              <p:cNvSpPr/>
              <p:nvPr/>
            </p:nvSpPr>
            <p:spPr>
              <a:xfrm flipV="1">
                <a:off x="8921880" y="245664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720" bIns="667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9" name="Google Shape;2452;p64">
                <a:extLst>
                  <a:ext uri="{FF2B5EF4-FFF2-40B4-BE49-F238E27FC236}">
                    <a16:creationId xmlns:a16="http://schemas.microsoft.com/office/drawing/2014/main" id="{D0BE4694-F5CB-D1F1-9D99-2323CDB68A8A}"/>
                  </a:ext>
                </a:extLst>
              </p:cNvPr>
              <p:cNvSpPr/>
              <p:nvPr/>
            </p:nvSpPr>
            <p:spPr>
              <a:xfrm flipV="1">
                <a:off x="8942040" y="247752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000" bIns="4800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60" name="Google Shape;2453;p64">
              <a:extLst>
                <a:ext uri="{FF2B5EF4-FFF2-40B4-BE49-F238E27FC236}">
                  <a16:creationId xmlns:a16="http://schemas.microsoft.com/office/drawing/2014/main" id="{5A5C0E1A-2918-FEDE-0FD6-4C5F241EB4D7}"/>
                </a:ext>
              </a:extLst>
            </p:cNvPr>
            <p:cNvSpPr/>
            <p:nvPr/>
          </p:nvSpPr>
          <p:spPr>
            <a:xfrm flipV="1">
              <a:off x="9020520" y="1693440"/>
              <a:ext cx="509040" cy="503640"/>
            </a:xfrm>
            <a:custGeom>
              <a:avLst/>
              <a:gdLst>
                <a:gd name="textAreaLeft" fmla="*/ 0 w 509040"/>
                <a:gd name="textAreaRight" fmla="*/ 509400 w 509040"/>
                <a:gd name="textAreaTop" fmla="*/ -360 h 503640"/>
                <a:gd name="textAreaBottom" fmla="*/ 503640 h 503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61" name="Google Shape;2454;p64">
              <a:extLst>
                <a:ext uri="{FF2B5EF4-FFF2-40B4-BE49-F238E27FC236}">
                  <a16:creationId xmlns:a16="http://schemas.microsoft.com/office/drawing/2014/main" id="{23E5A743-8F1C-E2F3-FF30-1AAD5174561B}"/>
                </a:ext>
              </a:extLst>
            </p:cNvPr>
            <p:cNvGrpSpPr/>
            <p:nvPr/>
          </p:nvGrpSpPr>
          <p:grpSpPr>
            <a:xfrm>
              <a:off x="8921880" y="-238320"/>
              <a:ext cx="740880" cy="1747800"/>
              <a:chOff x="8921880" y="-238320"/>
              <a:chExt cx="740880" cy="1747800"/>
            </a:xfrm>
          </p:grpSpPr>
          <p:sp>
            <p:nvSpPr>
              <p:cNvPr id="1475" name="Google Shape;2455;p64">
                <a:extLst>
                  <a:ext uri="{FF2B5EF4-FFF2-40B4-BE49-F238E27FC236}">
                    <a16:creationId xmlns:a16="http://schemas.microsoft.com/office/drawing/2014/main" id="{8163D43F-4887-4DAF-8E77-64A68E398A4F}"/>
                  </a:ext>
                </a:extLst>
              </p:cNvPr>
              <p:cNvSpPr/>
              <p:nvPr/>
            </p:nvSpPr>
            <p:spPr>
              <a:xfrm flipV="1">
                <a:off x="8921880" y="435960"/>
                <a:ext cx="511200" cy="1073160"/>
              </a:xfrm>
              <a:custGeom>
                <a:avLst/>
                <a:gdLst>
                  <a:gd name="textAreaLeft" fmla="*/ 0 w 511200"/>
                  <a:gd name="textAreaRight" fmla="*/ 511560 w 511200"/>
                  <a:gd name="textAreaTop" fmla="*/ -360 h 1073160"/>
                  <a:gd name="textAreaBottom" fmla="*/ 1073160 h 107316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6" name="Google Shape;2456;p64">
                <a:extLst>
                  <a:ext uri="{FF2B5EF4-FFF2-40B4-BE49-F238E27FC236}">
                    <a16:creationId xmlns:a16="http://schemas.microsoft.com/office/drawing/2014/main" id="{24C3DAAC-DA57-8F10-01ED-0827808B3A48}"/>
                  </a:ext>
                </a:extLst>
              </p:cNvPr>
              <p:cNvSpPr/>
              <p:nvPr/>
            </p:nvSpPr>
            <p:spPr>
              <a:xfrm flipV="1">
                <a:off x="9303840" y="-23832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7" name="Google Shape;2457;p64">
                <a:extLst>
                  <a:ext uri="{FF2B5EF4-FFF2-40B4-BE49-F238E27FC236}">
                    <a16:creationId xmlns:a16="http://schemas.microsoft.com/office/drawing/2014/main" id="{B5B7E369-7C0D-C327-6C66-09E24E836260}"/>
                  </a:ext>
                </a:extLst>
              </p:cNvPr>
              <p:cNvSpPr/>
              <p:nvPr/>
            </p:nvSpPr>
            <p:spPr>
              <a:xfrm flipV="1">
                <a:off x="9401760" y="-13968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2" name="Google Shape;2458;p64">
              <a:extLst>
                <a:ext uri="{FF2B5EF4-FFF2-40B4-BE49-F238E27FC236}">
                  <a16:creationId xmlns:a16="http://schemas.microsoft.com/office/drawing/2014/main" id="{6E0E39A3-FBD7-9B87-9F08-FD3B766831AD}"/>
                </a:ext>
              </a:extLst>
            </p:cNvPr>
            <p:cNvGrpSpPr/>
            <p:nvPr/>
          </p:nvGrpSpPr>
          <p:grpSpPr>
            <a:xfrm>
              <a:off x="8506080" y="-115920"/>
              <a:ext cx="957600" cy="768600"/>
              <a:chOff x="8506080" y="-115920"/>
              <a:chExt cx="957600" cy="768600"/>
            </a:xfrm>
          </p:grpSpPr>
          <p:sp>
            <p:nvSpPr>
              <p:cNvPr id="1472" name="Google Shape;2459;p64">
                <a:extLst>
                  <a:ext uri="{FF2B5EF4-FFF2-40B4-BE49-F238E27FC236}">
                    <a16:creationId xmlns:a16="http://schemas.microsoft.com/office/drawing/2014/main" id="{A708BAFB-2332-47DD-94B3-90B901580665}"/>
                  </a:ext>
                </a:extLst>
              </p:cNvPr>
              <p:cNvSpPr/>
              <p:nvPr/>
            </p:nvSpPr>
            <p:spPr>
              <a:xfrm flipV="1">
                <a:off x="8751240" y="-115920"/>
                <a:ext cx="712440" cy="617040"/>
              </a:xfrm>
              <a:custGeom>
                <a:avLst/>
                <a:gdLst>
                  <a:gd name="textAreaLeft" fmla="*/ 0 w 712440"/>
                  <a:gd name="textAreaRight" fmla="*/ 712800 w 712440"/>
                  <a:gd name="textAreaTop" fmla="*/ 360 h 617040"/>
                  <a:gd name="textAreaBottom" fmla="*/ 617760 h 617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3" name="Google Shape;2460;p64">
                <a:extLst>
                  <a:ext uri="{FF2B5EF4-FFF2-40B4-BE49-F238E27FC236}">
                    <a16:creationId xmlns:a16="http://schemas.microsoft.com/office/drawing/2014/main" id="{11FDD6AE-AA29-3C96-F8AB-18E63B739401}"/>
                  </a:ext>
                </a:extLst>
              </p:cNvPr>
              <p:cNvSpPr/>
              <p:nvPr/>
            </p:nvSpPr>
            <p:spPr>
              <a:xfrm flipV="1">
                <a:off x="8738280" y="21168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4" name="Google Shape;2461;p64">
                <a:extLst>
                  <a:ext uri="{FF2B5EF4-FFF2-40B4-BE49-F238E27FC236}">
                    <a16:creationId xmlns:a16="http://schemas.microsoft.com/office/drawing/2014/main" id="{07E0B15E-E4BF-4E8F-4868-BF5BC5AAAA0B}"/>
                  </a:ext>
                </a:extLst>
              </p:cNvPr>
              <p:cNvSpPr/>
              <p:nvPr/>
            </p:nvSpPr>
            <p:spPr>
              <a:xfrm flipV="1">
                <a:off x="8506080" y="5976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1920" bIns="121920" anchor="ctr">
                <a:noAutofit/>
              </a:bodyPr>
              <a:lstStyle/>
              <a:p>
                <a:pPr defTabSz="1219170">
                  <a:tabLst>
                    <a:tab pos="0" algn="l"/>
                  </a:tabLst>
                </a:pPr>
                <a:endParaRPr lang="en-US" sz="2400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63" name="Google Shape;2462;p64">
              <a:extLst>
                <a:ext uri="{FF2B5EF4-FFF2-40B4-BE49-F238E27FC236}">
                  <a16:creationId xmlns:a16="http://schemas.microsoft.com/office/drawing/2014/main" id="{F6BB28AA-5B4E-E1D1-819B-C91E7CED28E2}"/>
                </a:ext>
              </a:extLst>
            </p:cNvPr>
            <p:cNvSpPr/>
            <p:nvPr/>
          </p:nvSpPr>
          <p:spPr>
            <a:xfrm rot="16200000" flipV="1">
              <a:off x="8232840" y="1123920"/>
              <a:ext cx="1504440" cy="3000240"/>
            </a:xfrm>
            <a:custGeom>
              <a:avLst/>
              <a:gdLst>
                <a:gd name="textAreaLeft" fmla="*/ 0 w 1504440"/>
                <a:gd name="textAreaRight" fmla="*/ 1504800 w 1504440"/>
                <a:gd name="textAreaTop" fmla="*/ 360 h 3000240"/>
                <a:gd name="textAreaBottom" fmla="*/ 3000960 h 30002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051841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877</Words>
  <Application>Microsoft Office PowerPoint</Application>
  <PresentationFormat>Ευρεία οθόνη</PresentationFormat>
  <Paragraphs>88</Paragraphs>
  <Slides>24</Slides>
  <Notes>0</Notes>
  <HiddenSlides>0</HiddenSlides>
  <MMClips>14</MMClips>
  <ScaleCrop>false</ScaleCrop>
  <HeadingPairs>
    <vt:vector size="6" baseType="variant">
      <vt:variant>
        <vt:lpstr>Γραμματοσειρές που χρησιμοποιούνται</vt:lpstr>
      </vt:variant>
      <vt:variant>
        <vt:i4>9</vt:i4>
      </vt:variant>
      <vt:variant>
        <vt:lpstr>Θέμα</vt:lpstr>
      </vt:variant>
      <vt:variant>
        <vt:i4>4</vt:i4>
      </vt:variant>
      <vt:variant>
        <vt:lpstr>Τίτλοι διαφανειών</vt:lpstr>
      </vt:variant>
      <vt:variant>
        <vt:i4>24</vt:i4>
      </vt:variant>
    </vt:vector>
  </HeadingPairs>
  <TitlesOfParts>
    <vt:vector size="37" baseType="lpstr">
      <vt:lpstr>Arial</vt:lpstr>
      <vt:lpstr>Calibri</vt:lpstr>
      <vt:lpstr>Helvetica</vt:lpstr>
      <vt:lpstr>Helvetica Neue</vt:lpstr>
      <vt:lpstr>IBM Plex Mono</vt:lpstr>
      <vt:lpstr>OpenSymbol</vt:lpstr>
      <vt:lpstr>Poppins</vt:lpstr>
      <vt:lpstr>Symbol</vt:lpstr>
      <vt:lpstr>Wingdings</vt:lpstr>
      <vt:lpstr>Introduction to Coding Workshop by Slidesgo</vt:lpstr>
      <vt:lpstr>1_Introduction to Coding Workshop by Slidesgo</vt:lpstr>
      <vt:lpstr>2_Introduction to Coding Workshop by Slidesgo</vt:lpstr>
      <vt:lpstr>3_Introduction to Coding Workshop by Slidesgo</vt:lpstr>
      <vt:lpstr>CHAMELEON</vt:lpstr>
      <vt:lpstr>01</vt:lpstr>
      <vt:lpstr>Some Blends</vt:lpstr>
      <vt:lpstr>CONCEPTUAL BLENDING</vt:lpstr>
      <vt:lpstr>Παρουσίαση του PowerPoint</vt:lpstr>
      <vt:lpstr>02</vt:lpstr>
      <vt:lpstr>TRAINING</vt:lpstr>
      <vt:lpstr>Statistical learning of harmonies</vt:lpstr>
      <vt:lpstr>Annotated score example</vt:lpstr>
      <vt:lpstr>Chord transition spaces</vt:lpstr>
      <vt:lpstr>03</vt:lpstr>
      <vt:lpstr>Using Chameleon</vt:lpstr>
      <vt:lpstr>CHAMELEON WORKS BACKWARDS</vt:lpstr>
      <vt:lpstr>Polyphonic Epirus song (PE)</vt:lpstr>
      <vt:lpstr>Blending chord transition matrices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avenus BEATS</dc:creator>
  <cp:lastModifiedBy>Χρυσούλα Kar63</cp:lastModifiedBy>
  <cp:revision>8</cp:revision>
  <dcterms:created xsi:type="dcterms:W3CDTF">2025-05-21T18:09:28Z</dcterms:created>
  <dcterms:modified xsi:type="dcterms:W3CDTF">2025-05-23T09:29:59Z</dcterms:modified>
</cp:coreProperties>
</file>